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type="wide"/>
  <p:notesSz cx="6858000" cy="9144000"/>
  <p:defaultTextStyle/>
</p:presentation>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12192000" cy="6858000"/>
          <a:chOff x="0" y="0"/>
          <a:chExt cx="12192000" cy="685800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12192000" cy="6858000"/>
          <a:chOff x="0" y="0"/>
          <a:chExt cx="12192000" cy="6858000"/>
        </a:xfrm>
      </p:grpSpPr>
    </p:spTree>
  </p:cSld>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png"/><Relationship Id="rId3" Type="http://schemas.openxmlformats.org/officeDocument/2006/relationships/image" Target="../media/image2.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pn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pic>
        <p:nvPicPr>
          <p:cNvPr id="20" name="Picture 20"/>
          <p:cNvPicPr/>
          <p:nvPr/>
        </p:nvPicPr>
        <p:blipFill>
          <a:blip r:embed="rId2"/>
          <a:stretch>
            <a:fillRect/>
          </a:stretch>
        </p:blipFill>
        <p:spPr>
          <a:xfrm>
            <a:off x="5700000" y="655000"/>
            <a:ext cx="5610000" cy="5380000"/>
          </a:xfrm>
          <a:prstGeom prst="rect">
            <a:avLst/>
          </a:prstGeom>
        </p:spPr>
      </p:pic>
      <p:sp>
        <p:nvSpPr>
          <p:cNvPr id="21" name="Shape 21"/>
          <p:cNvSpPr/>
          <p:nvPr/>
        </p:nvSpPr>
        <p:spPr>
          <a:xfrm>
            <a:off x="5360000" y="655000"/>
            <a:ext cx="5940000" cy="5380000"/>
          </a:xfrm>
          <a:prstGeom prst="rect">
            <a:avLst/>
          </a:prstGeom>
          <a:solidFill>
            <a:srgbClr val="15110F">
              <a:alpha val="36000"/>
            </a:srgbClr>
          </a:solidFill>
          <a:ln w="12700">
            <a:solidFill>
              <a:srgbClr val="D5A85B"/>
            </a:solidFill>
          </a:ln>
        </p:spPr>
        <p:txBody>
          <a:bodyPr/>
          <a:lstStyle/>
          <a:p/>
        </p:txBody>
      </p:sp>
      <p:sp>
        <p:nvSpPr>
          <p:cNvPr id="22" name="Text 22"/>
          <p:cNvSpPr txBox="1"/>
          <p:nvPr/>
        </p:nvSpPr>
        <p:spPr>
          <a:xfrm>
            <a:off x="560000" y="650000"/>
            <a:ext cx="3600000" cy="360000"/>
          </a:xfrm>
          <a:prstGeom prst="rect">
            <a:avLst/>
          </a:prstGeom>
          <a:noFill/>
          <a:ln>
            <a:noFill/>
          </a:ln>
        </p:spPr>
        <p:txBody>
          <a:bodyPr wrap="square" anchor="t"/>
          <a:lstStyle/>
          <a:p>
            <a:pPr algn="l"/>
            <a:r>
              <a:rPr lang="kk-KZ" sz="1800" b="1">
                <a:solidFill>
                  <a:srgbClr val="D5A85B"/>
                </a:solidFill>
                <a:latin typeface="Aptos"/>
                <a:cs typeface="Aptos"/>
              </a:rPr>
              <a:t>Жоба тақырыбы</a:t>
            </a:r>
          </a:p>
        </p:txBody>
      </p:sp>
      <p:sp>
        <p:nvSpPr>
          <p:cNvPr id="23" name="Text 23"/>
          <p:cNvSpPr txBox="1"/>
          <p:nvPr/>
        </p:nvSpPr>
        <p:spPr>
          <a:xfrm>
            <a:off x="560000" y="1180000"/>
            <a:ext cx="4700000" cy="1100000"/>
          </a:xfrm>
          <a:prstGeom prst="rect">
            <a:avLst/>
          </a:prstGeom>
          <a:noFill/>
          <a:ln>
            <a:noFill/>
          </a:ln>
        </p:spPr>
        <p:txBody>
          <a:bodyPr wrap="square" anchor="t"/>
          <a:lstStyle/>
          <a:p>
            <a:pPr algn="l"/>
            <a:r>
              <a:rPr lang="kk-KZ" sz="6000" b="1">
                <a:solidFill>
                  <a:srgbClr val="FFF8EB"/>
                </a:solidFill>
                <a:latin typeface="Georgia"/>
                <a:cs typeface="Georgia"/>
              </a:rPr>
              <a:t>Sakura Table</a:t>
            </a:r>
          </a:p>
        </p:txBody>
      </p:sp>
      <p:sp>
        <p:nvSpPr>
          <p:cNvPr id="24" name="Text 24"/>
          <p:cNvSpPr txBox="1"/>
          <p:nvPr/>
        </p:nvSpPr>
        <p:spPr>
          <a:xfrm>
            <a:off x="560000" y="2580000"/>
            <a:ext cx="4820000" cy="950000"/>
          </a:xfrm>
          <a:prstGeom prst="rect">
            <a:avLst/>
          </a:prstGeom>
          <a:noFill/>
          <a:ln>
            <a:noFill/>
          </a:ln>
        </p:spPr>
        <p:txBody>
          <a:bodyPr wrap="square" anchor="t"/>
          <a:lstStyle/>
          <a:p>
            <a:pPr algn="l"/>
            <a:r>
              <a:rPr lang="kk-KZ" sz="2500">
                <a:solidFill>
                  <a:srgbClr val="CDBEA8"/>
                </a:solidFill>
                <a:latin typeface="Aptos"/>
                <a:cs typeface="Aptos"/>
              </a:rPr>
              <a:t>Суши, ролл, саке және жеткізуге арналған толыққанды веб-платформа</a:t>
            </a:r>
          </a:p>
        </p:txBody>
      </p:sp>
      <p:sp>
        <p:nvSpPr>
          <p:cNvPr id="25" name="Shape 25"/>
          <p:cNvSpPr/>
          <p:nvPr/>
        </p:nvSpPr>
        <p:spPr>
          <a:xfrm>
            <a:off x="560000" y="3920000"/>
            <a:ext cx="1650000" cy="64000"/>
          </a:xfrm>
          <a:prstGeom prst="rect">
            <a:avLst/>
          </a:prstGeom>
          <a:solidFill>
            <a:srgbClr val="D94A54"/>
          </a:solidFill>
          <a:ln>
            <a:noFill/>
          </a:ln>
        </p:spPr>
        <p:txBody>
          <a:bodyPr/>
          <a:lstStyle/>
          <a:p/>
        </p:txBody>
      </p:sp>
      <p:sp>
        <p:nvSpPr>
          <p:cNvPr id="26" name="Text 26"/>
          <p:cNvSpPr txBox="1"/>
          <p:nvPr/>
        </p:nvSpPr>
        <p:spPr>
          <a:xfrm>
            <a:off x="560000" y="4320000"/>
            <a:ext cx="4400000" cy="520000"/>
          </a:xfrm>
          <a:prstGeom prst="rect">
            <a:avLst/>
          </a:prstGeom>
          <a:noFill/>
          <a:ln>
            <a:noFill/>
          </a:ln>
        </p:spPr>
        <p:txBody>
          <a:bodyPr wrap="square" anchor="t"/>
          <a:lstStyle/>
          <a:p>
            <a:pPr algn="l"/>
            <a:r>
              <a:rPr lang="kk-KZ" sz="1700">
                <a:solidFill>
                  <a:srgbClr val="D5A85B"/>
                </a:solidFill>
                <a:latin typeface="Aptos"/>
                <a:cs typeface="Aptos"/>
              </a:rPr>
              <a:t>Django + JavaScript + SQLite/PostgreSQL | Алматы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Жобаның өзектілігі</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Shape 22"/>
          <p:cNvSpPr/>
          <p:nvPr/>
        </p:nvSpPr>
        <p:spPr>
          <a:xfrm>
            <a:off x="8120000" y="1360000"/>
            <a:ext cx="2900000" cy="2700000"/>
          </a:xfrm>
          <a:prstGeom prst="rect">
            <a:avLst/>
          </a:prstGeom>
          <a:solidFill>
            <a:srgbClr val="241C18">
              <a:alpha val="88000"/>
            </a:srgbClr>
          </a:solidFill>
          <a:ln w="12700">
            <a:solidFill>
              <a:srgbClr val="D5A85B"/>
            </a:solidFill>
          </a:ln>
        </p:spPr>
        <p:txBody>
          <a:bodyPr/>
          <a:lstStyle/>
          <a:p/>
        </p:txBody>
      </p:sp>
      <p:sp>
        <p:nvSpPr>
          <p:cNvPr id="23" name="Text 23"/>
          <p:cNvSpPr txBox="1"/>
          <p:nvPr/>
        </p:nvSpPr>
        <p:spPr>
          <a:xfrm>
            <a:off x="8440000" y="1710000"/>
            <a:ext cx="2260000" cy="420000"/>
          </a:xfrm>
          <a:prstGeom prst="rect">
            <a:avLst/>
          </a:prstGeom>
          <a:noFill/>
          <a:ln>
            <a:noFill/>
          </a:ln>
        </p:spPr>
        <p:txBody>
          <a:bodyPr wrap="square" anchor="t"/>
          <a:lstStyle/>
          <a:p>
            <a:pPr algn="l"/>
            <a:r>
              <a:rPr lang="kk-KZ" sz="2300" b="1">
                <a:solidFill>
                  <a:srgbClr val="D5A85B"/>
                </a:solidFill>
                <a:latin typeface="Georgia"/>
                <a:cs typeface="Georgia"/>
              </a:rPr>
              <a:t>Негізгі мәселе</a:t>
            </a:r>
          </a:p>
        </p:txBody>
      </p:sp>
      <p:sp>
        <p:nvSpPr>
          <p:cNvPr id="24" name="Text 24"/>
          <p:cNvSpPr txBox="1"/>
          <p:nvPr/>
        </p:nvSpPr>
        <p:spPr>
          <a:xfrm>
            <a:off x="8440000" y="2320000"/>
            <a:ext cx="2260000" cy="1180000"/>
          </a:xfrm>
          <a:prstGeom prst="rect">
            <a:avLst/>
          </a:prstGeom>
          <a:noFill/>
          <a:ln>
            <a:noFill/>
          </a:ln>
        </p:spPr>
        <p:txBody>
          <a:bodyPr wrap="square" anchor="t"/>
          <a:lstStyle/>
          <a:p>
            <a:pPr algn="l"/>
            <a:r>
              <a:rPr lang="kk-KZ" sz="1650">
                <a:solidFill>
                  <a:srgbClr val="FFF8EB"/>
                </a:solidFill>
                <a:latin typeface="Aptos"/>
                <a:cs typeface="Aptos"/>
              </a:rPr>
              <a:t>Клиентке жылдам тапсырыс керек, ал админге барлық деректерді бір жерден басқару қажет.</a:t>
            </a:r>
          </a:p>
        </p:txBody>
      </p:sp>
      <p:sp>
        <p:nvSpPr>
          <p:cNvPr id="25" name="Text 25"/>
          <p:cNvSpPr txBox="1"/>
          <p:nvPr/>
        </p:nvSpPr>
        <p:spPr>
          <a:xfrm>
            <a:off x="900000" y="1300000"/>
            <a:ext cx="6600000" cy="4320000"/>
          </a:xfrm>
          <a:prstGeom prst="rect">
            <a:avLst/>
          </a:prstGeom>
          <a:noFill/>
          <a:ln>
            <a:noFill/>
          </a:ln>
        </p:spPr>
        <p:txBody>
          <a:bodyPr wrap="square" anchor="t"/>
          <a:lstStyle/>
          <a:p>
            <a:pPr marL="342900" indent="-171450" algn="l">
              <a:buChar char="•"/>
            </a:pPr>
            <a:r>
              <a:rPr lang="kk-KZ" sz="1850">
                <a:solidFill>
                  <a:srgbClr val="FFF8EB"/>
                </a:solidFill>
                <a:latin typeface="Aptos"/>
                <a:cs typeface="Aptos"/>
              </a:rPr>
              <a:t>Мейрамхана клиенттері мәзірді, броньды және жеткізуді бір жерде қолданғысы келеді.</a:t>
            </a:r>
          </a:p>
          <a:p>
            <a:pPr marL="342900" indent="-171450" algn="l">
              <a:buChar char="•"/>
            </a:pPr>
            <a:r>
              <a:rPr lang="kk-KZ" sz="1850">
                <a:solidFill>
                  <a:srgbClr val="FFF8EB"/>
                </a:solidFill>
                <a:latin typeface="Aptos"/>
                <a:cs typeface="Aptos"/>
              </a:rPr>
              <a:t>Көп сайттарда каталог бөлек, тапсырыс бөлек, әкімші басқаруы бөлек жұмыс істейді.</a:t>
            </a:r>
          </a:p>
          <a:p>
            <a:pPr marL="342900" indent="-171450" algn="l">
              <a:buChar char="•"/>
            </a:pPr>
            <a:r>
              <a:rPr lang="kk-KZ" sz="1850">
                <a:solidFill>
                  <a:srgbClr val="FFF8EB"/>
                </a:solidFill>
                <a:latin typeface="Aptos"/>
                <a:cs typeface="Aptos"/>
              </a:rPr>
              <a:t>Sakura Table осы процестерді бір жүйеге біріктіреді: каталог, себет, жеткізу, бронь, профиль, AI-чат және админ панель.</a:t>
            </a:r>
          </a:p>
          <a:p>
            <a:pPr marL="342900" indent="-171450" algn="l">
              <a:buChar char="•"/>
            </a:pPr>
            <a:r>
              <a:rPr lang="kk-KZ" sz="1850">
                <a:solidFill>
                  <a:srgbClr val="FFF8EB"/>
                </a:solidFill>
                <a:latin typeface="Aptos"/>
                <a:cs typeface="Aptos"/>
              </a:rPr>
              <a:t>Жоба хостингке дайын: Render және Beget сияқты платформаларға бейімделген.</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Мақсаты мен міндеттері</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Shape 22"/>
          <p:cNvSpPr/>
          <p:nvPr/>
        </p:nvSpPr>
        <p:spPr>
          <a:xfrm>
            <a:off x="8680000" y="1200000"/>
            <a:ext cx="2060000" cy="2060000"/>
          </a:xfrm>
          <a:prstGeom prst="rect">
            <a:avLst/>
          </a:prstGeom>
          <a:solidFill>
            <a:srgbClr val="D94A54">
              <a:alpha val="82000"/>
            </a:srgbClr>
          </a:solidFill>
          <a:ln>
            <a:noFill/>
          </a:ln>
        </p:spPr>
        <p:txBody>
          <a:bodyPr/>
          <a:lstStyle/>
          <a:p/>
        </p:txBody>
      </p:sp>
      <p:sp>
        <p:nvSpPr>
          <p:cNvPr id="23" name="Text 23"/>
          <p:cNvSpPr txBox="1"/>
          <p:nvPr/>
        </p:nvSpPr>
        <p:spPr>
          <a:xfrm>
            <a:off x="8960000" y="1880000"/>
            <a:ext cx="1500000" cy="430000"/>
          </a:xfrm>
          <a:prstGeom prst="rect">
            <a:avLst/>
          </a:prstGeom>
          <a:noFill/>
          <a:ln>
            <a:noFill/>
          </a:ln>
        </p:spPr>
        <p:txBody>
          <a:bodyPr wrap="square" anchor="t"/>
          <a:lstStyle/>
          <a:p>
            <a:pPr algn="ctr"/>
            <a:r>
              <a:rPr lang="kk-KZ" sz="2400" b="1">
                <a:solidFill>
                  <a:srgbClr val="FFFFFF"/>
                </a:solidFill>
                <a:latin typeface="Georgia"/>
                <a:cs typeface="Georgia"/>
              </a:rPr>
              <a:t>Міндет</a:t>
            </a:r>
          </a:p>
        </p:txBody>
      </p:sp>
      <p:sp>
        <p:nvSpPr>
          <p:cNvPr id="24" name="Text 24"/>
          <p:cNvSpPr txBox="1"/>
          <p:nvPr/>
        </p:nvSpPr>
        <p:spPr>
          <a:xfrm>
            <a:off x="900000" y="1300000"/>
            <a:ext cx="6600000" cy="4320000"/>
          </a:xfrm>
          <a:prstGeom prst="rect">
            <a:avLst/>
          </a:prstGeom>
          <a:noFill/>
          <a:ln>
            <a:noFill/>
          </a:ln>
        </p:spPr>
        <p:txBody>
          <a:bodyPr wrap="square" anchor="t"/>
          <a:lstStyle/>
          <a:p>
            <a:pPr marL="342900" indent="-171450" algn="l">
              <a:buChar char="•"/>
            </a:pPr>
            <a:r>
              <a:rPr lang="kk-KZ" sz="1850">
                <a:solidFill>
                  <a:srgbClr val="FFF8EB"/>
                </a:solidFill>
                <a:latin typeface="Aptos"/>
                <a:cs typeface="Aptos"/>
              </a:rPr>
              <a:t>Мақсаты: суши мейрамханасына арналған заманауи, ыңғайлы және жұмыс істейтін веб-сайт құру.</a:t>
            </a:r>
          </a:p>
          <a:p>
            <a:pPr marL="342900" indent="-171450" algn="l">
              <a:buChar char="•"/>
            </a:pPr>
            <a:r>
              <a:rPr lang="kk-KZ" sz="1850">
                <a:solidFill>
                  <a:srgbClr val="FFF8EB"/>
                </a:solidFill>
                <a:latin typeface="Aptos"/>
                <a:cs typeface="Aptos"/>
              </a:rPr>
              <a:t>Django арқылы деректер базасын, тіркеуді, авторизацияны және админ панельді іске асыру.</a:t>
            </a:r>
          </a:p>
          <a:p>
            <a:pPr marL="342900" indent="-171450" algn="l">
              <a:buChar char="•"/>
            </a:pPr>
            <a:r>
              <a:rPr lang="kk-KZ" sz="1850">
                <a:solidFill>
                  <a:srgbClr val="FFF8EB"/>
                </a:solidFill>
                <a:latin typeface="Aptos"/>
                <a:cs typeface="Aptos"/>
              </a:rPr>
              <a:t>Каталог, себет, жеткізу, үстел брондау және жеке кабинет функционалын жасау.</a:t>
            </a:r>
          </a:p>
          <a:p>
            <a:pPr marL="342900" indent="-171450" algn="l">
              <a:buChar char="•"/>
            </a:pPr>
            <a:r>
              <a:rPr lang="kk-KZ" sz="1850">
                <a:solidFill>
                  <a:srgbClr val="FFF8EB"/>
                </a:solidFill>
                <a:latin typeface="Aptos"/>
                <a:cs typeface="Aptos"/>
              </a:rPr>
              <a:t>AI-чатбот пен операторға хабарласу мүмкіндігін қосу.</a:t>
            </a:r>
          </a:p>
          <a:p>
            <a:pPr marL="342900" indent="-171450" algn="l">
              <a:buChar char="•"/>
            </a:pPr>
            <a:r>
              <a:rPr lang="kk-KZ" sz="1850">
                <a:solidFill>
                  <a:srgbClr val="FFF8EB"/>
                </a:solidFill>
                <a:latin typeface="Aptos"/>
                <a:cs typeface="Aptos"/>
              </a:rPr>
              <a:t>Қазақ, орыс және ағылшын тілдерін қолдау.</a:t>
            </a:r>
          </a:p>
          <a:p>
            <a:pPr marL="342900" indent="-171450" algn="l">
              <a:buChar char="•"/>
            </a:pPr>
            <a:r>
              <a:rPr lang="kk-KZ" sz="1850">
                <a:solidFill>
                  <a:srgbClr val="FFF8EB"/>
                </a:solidFill>
                <a:latin typeface="Aptos"/>
                <a:cs typeface="Aptos"/>
              </a:rPr>
              <a:t>Промокод беретін 10 сұрақтық викторина енгізу.</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Жоба тақырыбы бойынша шолу</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Shape 22"/>
          <p:cNvSpPr/>
          <p:nvPr/>
        </p:nvSpPr>
        <p:spPr>
          <a:xfrm>
            <a:off x="680000" y="1290000"/>
            <a:ext cx="10500000" cy="560000"/>
          </a:xfrm>
          <a:prstGeom prst="rect">
            <a:avLst/>
          </a:prstGeom>
          <a:solidFill>
            <a:srgbClr val="D94A54"/>
          </a:solidFill>
          <a:ln w="12700">
            <a:solidFill>
              <a:srgbClr val="D5A85B"/>
            </a:solidFill>
          </a:ln>
        </p:spPr>
        <p:txBody>
          <a:bodyPr/>
          <a:lstStyle/>
          <a:p/>
        </p:txBody>
      </p:sp>
      <p:sp>
        <p:nvSpPr>
          <p:cNvPr id="23" name="Text 23"/>
          <p:cNvSpPr txBox="1"/>
          <p:nvPr/>
        </p:nvSpPr>
        <p:spPr>
          <a:xfrm>
            <a:off x="770000" y="1405000"/>
            <a:ext cx="3020000" cy="440000"/>
          </a:xfrm>
          <a:prstGeom prst="rect">
            <a:avLst/>
          </a:prstGeom>
          <a:noFill/>
          <a:ln>
            <a:noFill/>
          </a:ln>
        </p:spPr>
        <p:txBody>
          <a:bodyPr wrap="square" anchor="t"/>
          <a:lstStyle/>
          <a:p>
            <a:pPr algn="l"/>
            <a:r>
              <a:rPr lang="kk-KZ" sz="1550" b="1">
                <a:solidFill>
                  <a:srgbClr val="FFFFFF"/>
                </a:solidFill>
                <a:latin typeface="Aptos"/>
                <a:cs typeface="Aptos"/>
              </a:rPr>
              <a:t>Сипаттама</a:t>
            </a:r>
          </a:p>
        </p:txBody>
      </p:sp>
      <p:sp>
        <p:nvSpPr>
          <p:cNvPr id="24" name="Text 24"/>
          <p:cNvSpPr txBox="1"/>
          <p:nvPr/>
        </p:nvSpPr>
        <p:spPr>
          <a:xfrm>
            <a:off x="3970000" y="1405000"/>
            <a:ext cx="2220000" cy="440000"/>
          </a:xfrm>
          <a:prstGeom prst="rect">
            <a:avLst/>
          </a:prstGeom>
          <a:noFill/>
          <a:ln>
            <a:noFill/>
          </a:ln>
        </p:spPr>
        <p:txBody>
          <a:bodyPr wrap="square" anchor="t"/>
          <a:lstStyle/>
          <a:p>
            <a:pPr algn="l"/>
            <a:r>
              <a:rPr lang="kk-KZ" sz="1550" b="1">
                <a:solidFill>
                  <a:srgbClr val="FFFFFF"/>
                </a:solidFill>
                <a:latin typeface="Aptos"/>
                <a:cs typeface="Aptos"/>
              </a:rPr>
              <a:t>Қарапайым сайт</a:t>
            </a:r>
          </a:p>
        </p:txBody>
      </p:sp>
      <p:sp>
        <p:nvSpPr>
          <p:cNvPr id="25" name="Text 25"/>
          <p:cNvSpPr txBox="1"/>
          <p:nvPr/>
        </p:nvSpPr>
        <p:spPr>
          <a:xfrm>
            <a:off x="6370000" y="1405000"/>
            <a:ext cx="2220000" cy="440000"/>
          </a:xfrm>
          <a:prstGeom prst="rect">
            <a:avLst/>
          </a:prstGeom>
          <a:noFill/>
          <a:ln>
            <a:noFill/>
          </a:ln>
        </p:spPr>
        <p:txBody>
          <a:bodyPr wrap="square" anchor="t"/>
          <a:lstStyle/>
          <a:p>
            <a:pPr algn="l"/>
            <a:r>
              <a:rPr lang="kk-KZ" sz="1550" b="1">
                <a:solidFill>
                  <a:srgbClr val="FFFFFF"/>
                </a:solidFill>
                <a:latin typeface="Aptos"/>
                <a:cs typeface="Aptos"/>
              </a:rPr>
              <a:t>Жеткізу сервисі</a:t>
            </a:r>
          </a:p>
        </p:txBody>
      </p:sp>
      <p:sp>
        <p:nvSpPr>
          <p:cNvPr id="26" name="Text 26"/>
          <p:cNvSpPr txBox="1"/>
          <p:nvPr/>
        </p:nvSpPr>
        <p:spPr>
          <a:xfrm>
            <a:off x="8770000" y="1405000"/>
            <a:ext cx="2320000" cy="440000"/>
          </a:xfrm>
          <a:prstGeom prst="rect">
            <a:avLst/>
          </a:prstGeom>
          <a:noFill/>
          <a:ln>
            <a:noFill/>
          </a:ln>
        </p:spPr>
        <p:txBody>
          <a:bodyPr wrap="square" anchor="t"/>
          <a:lstStyle/>
          <a:p>
            <a:pPr algn="l"/>
            <a:r>
              <a:rPr lang="kk-KZ" sz="1550" b="1">
                <a:solidFill>
                  <a:srgbClr val="FFFFFF"/>
                </a:solidFill>
                <a:latin typeface="Aptos"/>
                <a:cs typeface="Aptos"/>
              </a:rPr>
              <a:t>Sakura Table</a:t>
            </a:r>
          </a:p>
        </p:txBody>
      </p:sp>
      <p:sp>
        <p:nvSpPr>
          <p:cNvPr id="27" name="Shape 27"/>
          <p:cNvSpPr/>
          <p:nvPr/>
        </p:nvSpPr>
        <p:spPr>
          <a:xfrm>
            <a:off x="680000" y="1850000"/>
            <a:ext cx="10500000" cy="560000"/>
          </a:xfrm>
          <a:prstGeom prst="rect">
            <a:avLst/>
          </a:prstGeom>
          <a:solidFill>
            <a:srgbClr val="15110F">
              <a:alpha val="52000"/>
            </a:srgbClr>
          </a:solidFill>
          <a:ln w="12700">
            <a:solidFill>
              <a:srgbClr val="D5A85B"/>
            </a:solidFill>
          </a:ln>
        </p:spPr>
        <p:txBody>
          <a:bodyPr/>
          <a:lstStyle/>
          <a:p/>
        </p:txBody>
      </p:sp>
      <p:sp>
        <p:nvSpPr>
          <p:cNvPr id="28" name="Text 28"/>
          <p:cNvSpPr txBox="1"/>
          <p:nvPr/>
        </p:nvSpPr>
        <p:spPr>
          <a:xfrm>
            <a:off x="770000" y="1975000"/>
            <a:ext cx="3020000" cy="420000"/>
          </a:xfrm>
          <a:prstGeom prst="rect">
            <a:avLst/>
          </a:prstGeom>
          <a:noFill/>
          <a:ln>
            <a:noFill/>
          </a:ln>
        </p:spPr>
        <p:txBody>
          <a:bodyPr wrap="square" anchor="t"/>
          <a:lstStyle/>
          <a:p>
            <a:pPr algn="l"/>
            <a:r>
              <a:rPr lang="kk-KZ" sz="1350">
                <a:solidFill>
                  <a:srgbClr val="CDBEA8"/>
                </a:solidFill>
                <a:latin typeface="Aptos"/>
                <a:cs typeface="Aptos"/>
              </a:rPr>
              <a:t>Мәзір және категориялар</a:t>
            </a:r>
          </a:p>
        </p:txBody>
      </p:sp>
      <p:sp>
        <p:nvSpPr>
          <p:cNvPr id="29" name="Text 29"/>
          <p:cNvSpPr txBox="1"/>
          <p:nvPr/>
        </p:nvSpPr>
        <p:spPr>
          <a:xfrm>
            <a:off x="3970000" y="1975000"/>
            <a:ext cx="2220000" cy="420000"/>
          </a:xfrm>
          <a:prstGeom prst="rect">
            <a:avLst/>
          </a:prstGeom>
          <a:noFill/>
          <a:ln>
            <a:noFill/>
          </a:ln>
        </p:spPr>
        <p:txBody>
          <a:bodyPr wrap="square" anchor="t"/>
          <a:lstStyle/>
          <a:p>
            <a:pPr algn="l"/>
            <a:r>
              <a:rPr lang="kk-KZ" sz="1350">
                <a:solidFill>
                  <a:srgbClr val="CDBEA8"/>
                </a:solidFill>
                <a:latin typeface="Aptos"/>
                <a:cs typeface="Aptos"/>
              </a:rPr>
              <a:t>Бар</a:t>
            </a:r>
          </a:p>
        </p:txBody>
      </p:sp>
      <p:sp>
        <p:nvSpPr>
          <p:cNvPr id="30" name="Text 30"/>
          <p:cNvSpPr txBox="1"/>
          <p:nvPr/>
        </p:nvSpPr>
        <p:spPr>
          <a:xfrm>
            <a:off x="6370000" y="1975000"/>
            <a:ext cx="2220000" cy="420000"/>
          </a:xfrm>
          <a:prstGeom prst="rect">
            <a:avLst/>
          </a:prstGeom>
          <a:noFill/>
          <a:ln>
            <a:noFill/>
          </a:ln>
        </p:spPr>
        <p:txBody>
          <a:bodyPr wrap="square" anchor="t"/>
          <a:lstStyle/>
          <a:p>
            <a:pPr algn="l"/>
            <a:r>
              <a:rPr lang="kk-KZ" sz="1350">
                <a:solidFill>
                  <a:srgbClr val="CDBEA8"/>
                </a:solidFill>
                <a:latin typeface="Aptos"/>
                <a:cs typeface="Aptos"/>
              </a:rPr>
              <a:t>Бар</a:t>
            </a:r>
          </a:p>
        </p:txBody>
      </p:sp>
      <p:sp>
        <p:nvSpPr>
          <p:cNvPr id="31" name="Text 31"/>
          <p:cNvSpPr txBox="1"/>
          <p:nvPr/>
        </p:nvSpPr>
        <p:spPr>
          <a:xfrm>
            <a:off x="8770000" y="1975000"/>
            <a:ext cx="2320000" cy="420000"/>
          </a:xfrm>
          <a:prstGeom prst="rect">
            <a:avLst/>
          </a:prstGeom>
          <a:noFill/>
          <a:ln>
            <a:noFill/>
          </a:ln>
        </p:spPr>
        <p:txBody>
          <a:bodyPr wrap="square" anchor="t"/>
          <a:lstStyle/>
          <a:p>
            <a:pPr algn="l"/>
            <a:r>
              <a:rPr lang="kk-KZ" sz="1350" b="1">
                <a:solidFill>
                  <a:srgbClr val="FFF8EB"/>
                </a:solidFill>
                <a:latin typeface="Aptos"/>
                <a:cs typeface="Aptos"/>
              </a:rPr>
              <a:t>Толық каталог + PDF</a:t>
            </a:r>
          </a:p>
        </p:txBody>
      </p:sp>
      <p:sp>
        <p:nvSpPr>
          <p:cNvPr id="32" name="Shape 32"/>
          <p:cNvSpPr/>
          <p:nvPr/>
        </p:nvSpPr>
        <p:spPr>
          <a:xfrm>
            <a:off x="680000" y="2410000"/>
            <a:ext cx="10500000" cy="560000"/>
          </a:xfrm>
          <a:prstGeom prst="rect">
            <a:avLst/>
          </a:prstGeom>
          <a:solidFill>
            <a:srgbClr val="241C18">
              <a:alpha val="52000"/>
            </a:srgbClr>
          </a:solidFill>
          <a:ln w="12700">
            <a:solidFill>
              <a:srgbClr val="D5A85B"/>
            </a:solidFill>
          </a:ln>
        </p:spPr>
        <p:txBody>
          <a:bodyPr/>
          <a:lstStyle/>
          <a:p/>
        </p:txBody>
      </p:sp>
      <p:sp>
        <p:nvSpPr>
          <p:cNvPr id="33" name="Text 33"/>
          <p:cNvSpPr txBox="1"/>
          <p:nvPr/>
        </p:nvSpPr>
        <p:spPr>
          <a:xfrm>
            <a:off x="770000" y="2535000"/>
            <a:ext cx="3020000" cy="420000"/>
          </a:xfrm>
          <a:prstGeom prst="rect">
            <a:avLst/>
          </a:prstGeom>
          <a:noFill/>
          <a:ln>
            <a:noFill/>
          </a:ln>
        </p:spPr>
        <p:txBody>
          <a:bodyPr wrap="square" anchor="t"/>
          <a:lstStyle/>
          <a:p>
            <a:pPr algn="l"/>
            <a:r>
              <a:rPr lang="kk-KZ" sz="1350">
                <a:solidFill>
                  <a:srgbClr val="CDBEA8"/>
                </a:solidFill>
                <a:latin typeface="Aptos"/>
                <a:cs typeface="Aptos"/>
              </a:rPr>
              <a:t>Бронь жасау</a:t>
            </a:r>
          </a:p>
        </p:txBody>
      </p:sp>
      <p:sp>
        <p:nvSpPr>
          <p:cNvPr id="34" name="Text 34"/>
          <p:cNvSpPr txBox="1"/>
          <p:nvPr/>
        </p:nvSpPr>
        <p:spPr>
          <a:xfrm>
            <a:off x="3970000" y="2535000"/>
            <a:ext cx="2220000" cy="420000"/>
          </a:xfrm>
          <a:prstGeom prst="rect">
            <a:avLst/>
          </a:prstGeom>
          <a:noFill/>
          <a:ln>
            <a:noFill/>
          </a:ln>
        </p:spPr>
        <p:txBody>
          <a:bodyPr wrap="square" anchor="t"/>
          <a:lstStyle/>
          <a:p>
            <a:pPr algn="l"/>
            <a:r>
              <a:rPr lang="kk-KZ" sz="1350">
                <a:solidFill>
                  <a:srgbClr val="CDBEA8"/>
                </a:solidFill>
                <a:latin typeface="Aptos"/>
                <a:cs typeface="Aptos"/>
              </a:rPr>
              <a:t>Кейде бар</a:t>
            </a:r>
          </a:p>
        </p:txBody>
      </p:sp>
      <p:sp>
        <p:nvSpPr>
          <p:cNvPr id="35" name="Text 35"/>
          <p:cNvSpPr txBox="1"/>
          <p:nvPr/>
        </p:nvSpPr>
        <p:spPr>
          <a:xfrm>
            <a:off x="6370000" y="2535000"/>
            <a:ext cx="2220000" cy="420000"/>
          </a:xfrm>
          <a:prstGeom prst="rect">
            <a:avLst/>
          </a:prstGeom>
          <a:noFill/>
          <a:ln>
            <a:noFill/>
          </a:ln>
        </p:spPr>
        <p:txBody>
          <a:bodyPr wrap="square" anchor="t"/>
          <a:lstStyle/>
          <a:p>
            <a:pPr algn="l"/>
            <a:r>
              <a:rPr lang="kk-KZ" sz="1350">
                <a:solidFill>
                  <a:srgbClr val="CDBEA8"/>
                </a:solidFill>
                <a:latin typeface="Aptos"/>
                <a:cs typeface="Aptos"/>
              </a:rPr>
              <a:t>Жоқ</a:t>
            </a:r>
          </a:p>
        </p:txBody>
      </p:sp>
      <p:sp>
        <p:nvSpPr>
          <p:cNvPr id="36" name="Text 36"/>
          <p:cNvSpPr txBox="1"/>
          <p:nvPr/>
        </p:nvSpPr>
        <p:spPr>
          <a:xfrm>
            <a:off x="8770000" y="2535000"/>
            <a:ext cx="2320000" cy="420000"/>
          </a:xfrm>
          <a:prstGeom prst="rect">
            <a:avLst/>
          </a:prstGeom>
          <a:noFill/>
          <a:ln>
            <a:noFill/>
          </a:ln>
        </p:spPr>
        <p:txBody>
          <a:bodyPr wrap="square" anchor="t"/>
          <a:lstStyle/>
          <a:p>
            <a:pPr algn="l"/>
            <a:r>
              <a:rPr lang="kk-KZ" sz="1350" b="1">
                <a:solidFill>
                  <a:srgbClr val="FFF8EB"/>
                </a:solidFill>
                <a:latin typeface="Aptos"/>
                <a:cs typeface="Aptos"/>
              </a:rPr>
              <a:t>Бар, базаға сақталады</a:t>
            </a:r>
          </a:p>
        </p:txBody>
      </p:sp>
      <p:sp>
        <p:nvSpPr>
          <p:cNvPr id="37" name="Shape 37"/>
          <p:cNvSpPr/>
          <p:nvPr/>
        </p:nvSpPr>
        <p:spPr>
          <a:xfrm>
            <a:off x="680000" y="2970000"/>
            <a:ext cx="10500000" cy="560000"/>
          </a:xfrm>
          <a:prstGeom prst="rect">
            <a:avLst/>
          </a:prstGeom>
          <a:solidFill>
            <a:srgbClr val="15110F">
              <a:alpha val="52000"/>
            </a:srgbClr>
          </a:solidFill>
          <a:ln w="12700">
            <a:solidFill>
              <a:srgbClr val="D5A85B"/>
            </a:solidFill>
          </a:ln>
        </p:spPr>
        <p:txBody>
          <a:bodyPr/>
          <a:lstStyle/>
          <a:p/>
        </p:txBody>
      </p:sp>
      <p:sp>
        <p:nvSpPr>
          <p:cNvPr id="38" name="Text 38"/>
          <p:cNvSpPr txBox="1"/>
          <p:nvPr/>
        </p:nvSpPr>
        <p:spPr>
          <a:xfrm>
            <a:off x="770000" y="3095000"/>
            <a:ext cx="3020000" cy="420000"/>
          </a:xfrm>
          <a:prstGeom prst="rect">
            <a:avLst/>
          </a:prstGeom>
          <a:noFill/>
          <a:ln>
            <a:noFill/>
          </a:ln>
        </p:spPr>
        <p:txBody>
          <a:bodyPr wrap="square" anchor="t"/>
          <a:lstStyle/>
          <a:p>
            <a:pPr algn="l"/>
            <a:r>
              <a:rPr lang="kk-KZ" sz="1350">
                <a:solidFill>
                  <a:srgbClr val="CDBEA8"/>
                </a:solidFill>
                <a:latin typeface="Aptos"/>
                <a:cs typeface="Aptos"/>
              </a:rPr>
              <a:t>Жеткізу</a:t>
            </a:r>
          </a:p>
        </p:txBody>
      </p:sp>
      <p:sp>
        <p:nvSpPr>
          <p:cNvPr id="39" name="Text 39"/>
          <p:cNvSpPr txBox="1"/>
          <p:nvPr/>
        </p:nvSpPr>
        <p:spPr>
          <a:xfrm>
            <a:off x="3970000" y="3095000"/>
            <a:ext cx="2220000" cy="420000"/>
          </a:xfrm>
          <a:prstGeom prst="rect">
            <a:avLst/>
          </a:prstGeom>
          <a:noFill/>
          <a:ln>
            <a:noFill/>
          </a:ln>
        </p:spPr>
        <p:txBody>
          <a:bodyPr wrap="square" anchor="t"/>
          <a:lstStyle/>
          <a:p>
            <a:pPr algn="l"/>
            <a:r>
              <a:rPr lang="kk-KZ" sz="1350">
                <a:solidFill>
                  <a:srgbClr val="CDBEA8"/>
                </a:solidFill>
                <a:latin typeface="Aptos"/>
                <a:cs typeface="Aptos"/>
              </a:rPr>
              <a:t>Шектеулі</a:t>
            </a:r>
          </a:p>
        </p:txBody>
      </p:sp>
      <p:sp>
        <p:nvSpPr>
          <p:cNvPr id="40" name="Text 40"/>
          <p:cNvSpPr txBox="1"/>
          <p:nvPr/>
        </p:nvSpPr>
        <p:spPr>
          <a:xfrm>
            <a:off x="6370000" y="3095000"/>
            <a:ext cx="2220000" cy="420000"/>
          </a:xfrm>
          <a:prstGeom prst="rect">
            <a:avLst/>
          </a:prstGeom>
          <a:noFill/>
          <a:ln>
            <a:noFill/>
          </a:ln>
        </p:spPr>
        <p:txBody>
          <a:bodyPr wrap="square" anchor="t"/>
          <a:lstStyle/>
          <a:p>
            <a:pPr algn="l"/>
            <a:r>
              <a:rPr lang="kk-KZ" sz="1350">
                <a:solidFill>
                  <a:srgbClr val="CDBEA8"/>
                </a:solidFill>
                <a:latin typeface="Aptos"/>
                <a:cs typeface="Aptos"/>
              </a:rPr>
              <a:t>Бар</a:t>
            </a:r>
          </a:p>
        </p:txBody>
      </p:sp>
      <p:sp>
        <p:nvSpPr>
          <p:cNvPr id="41" name="Text 41"/>
          <p:cNvSpPr txBox="1"/>
          <p:nvPr/>
        </p:nvSpPr>
        <p:spPr>
          <a:xfrm>
            <a:off x="8770000" y="3095000"/>
            <a:ext cx="2320000" cy="420000"/>
          </a:xfrm>
          <a:prstGeom prst="rect">
            <a:avLst/>
          </a:prstGeom>
          <a:noFill/>
          <a:ln>
            <a:noFill/>
          </a:ln>
        </p:spPr>
        <p:txBody>
          <a:bodyPr wrap="square" anchor="t"/>
          <a:lstStyle/>
          <a:p>
            <a:pPr algn="l"/>
            <a:r>
              <a:rPr lang="kk-KZ" sz="1350" b="1">
                <a:solidFill>
                  <a:srgbClr val="FFF8EB"/>
                </a:solidFill>
                <a:latin typeface="Aptos"/>
                <a:cs typeface="Aptos"/>
              </a:rPr>
              <a:t>Себет + төлем деректері</a:t>
            </a:r>
          </a:p>
        </p:txBody>
      </p:sp>
      <p:sp>
        <p:nvSpPr>
          <p:cNvPr id="42" name="Shape 42"/>
          <p:cNvSpPr/>
          <p:nvPr/>
        </p:nvSpPr>
        <p:spPr>
          <a:xfrm>
            <a:off x="680000" y="3530000"/>
            <a:ext cx="10500000" cy="560000"/>
          </a:xfrm>
          <a:prstGeom prst="rect">
            <a:avLst/>
          </a:prstGeom>
          <a:solidFill>
            <a:srgbClr val="241C18">
              <a:alpha val="52000"/>
            </a:srgbClr>
          </a:solidFill>
          <a:ln w="12700">
            <a:solidFill>
              <a:srgbClr val="D5A85B"/>
            </a:solidFill>
          </a:ln>
        </p:spPr>
        <p:txBody>
          <a:bodyPr/>
          <a:lstStyle/>
          <a:p/>
        </p:txBody>
      </p:sp>
      <p:sp>
        <p:nvSpPr>
          <p:cNvPr id="43" name="Text 43"/>
          <p:cNvSpPr txBox="1"/>
          <p:nvPr/>
        </p:nvSpPr>
        <p:spPr>
          <a:xfrm>
            <a:off x="770000" y="3655000"/>
            <a:ext cx="3020000" cy="420000"/>
          </a:xfrm>
          <a:prstGeom prst="rect">
            <a:avLst/>
          </a:prstGeom>
          <a:noFill/>
          <a:ln>
            <a:noFill/>
          </a:ln>
        </p:spPr>
        <p:txBody>
          <a:bodyPr wrap="square" anchor="t"/>
          <a:lstStyle/>
          <a:p>
            <a:pPr algn="l"/>
            <a:r>
              <a:rPr lang="kk-KZ" sz="1350">
                <a:solidFill>
                  <a:srgbClr val="CDBEA8"/>
                </a:solidFill>
                <a:latin typeface="Aptos"/>
                <a:cs typeface="Aptos"/>
              </a:rPr>
              <a:t>Профиль</a:t>
            </a:r>
          </a:p>
        </p:txBody>
      </p:sp>
      <p:sp>
        <p:nvSpPr>
          <p:cNvPr id="44" name="Text 44"/>
          <p:cNvSpPr txBox="1"/>
          <p:nvPr/>
        </p:nvSpPr>
        <p:spPr>
          <a:xfrm>
            <a:off x="3970000" y="3655000"/>
            <a:ext cx="2220000" cy="420000"/>
          </a:xfrm>
          <a:prstGeom prst="rect">
            <a:avLst/>
          </a:prstGeom>
          <a:noFill/>
          <a:ln>
            <a:noFill/>
          </a:ln>
        </p:spPr>
        <p:txBody>
          <a:bodyPr wrap="square" anchor="t"/>
          <a:lstStyle/>
          <a:p>
            <a:pPr algn="l"/>
            <a:r>
              <a:rPr lang="kk-KZ" sz="1350">
                <a:solidFill>
                  <a:srgbClr val="CDBEA8"/>
                </a:solidFill>
                <a:latin typeface="Aptos"/>
                <a:cs typeface="Aptos"/>
              </a:rPr>
              <a:t>Жоқ</a:t>
            </a:r>
          </a:p>
        </p:txBody>
      </p:sp>
      <p:sp>
        <p:nvSpPr>
          <p:cNvPr id="45" name="Text 45"/>
          <p:cNvSpPr txBox="1"/>
          <p:nvPr/>
        </p:nvSpPr>
        <p:spPr>
          <a:xfrm>
            <a:off x="6370000" y="3655000"/>
            <a:ext cx="2220000" cy="420000"/>
          </a:xfrm>
          <a:prstGeom prst="rect">
            <a:avLst/>
          </a:prstGeom>
          <a:noFill/>
          <a:ln>
            <a:noFill/>
          </a:ln>
        </p:spPr>
        <p:txBody>
          <a:bodyPr wrap="square" anchor="t"/>
          <a:lstStyle/>
          <a:p>
            <a:pPr algn="l"/>
            <a:r>
              <a:rPr lang="kk-KZ" sz="1350">
                <a:solidFill>
                  <a:srgbClr val="CDBEA8"/>
                </a:solidFill>
                <a:latin typeface="Aptos"/>
                <a:cs typeface="Aptos"/>
              </a:rPr>
              <a:t>Бар</a:t>
            </a:r>
          </a:p>
        </p:txBody>
      </p:sp>
      <p:sp>
        <p:nvSpPr>
          <p:cNvPr id="46" name="Text 46"/>
          <p:cNvSpPr txBox="1"/>
          <p:nvPr/>
        </p:nvSpPr>
        <p:spPr>
          <a:xfrm>
            <a:off x="8770000" y="3655000"/>
            <a:ext cx="2320000" cy="420000"/>
          </a:xfrm>
          <a:prstGeom prst="rect">
            <a:avLst/>
          </a:prstGeom>
          <a:noFill/>
          <a:ln>
            <a:noFill/>
          </a:ln>
        </p:spPr>
        <p:txBody>
          <a:bodyPr wrap="square" anchor="t"/>
          <a:lstStyle/>
          <a:p>
            <a:pPr algn="l"/>
            <a:r>
              <a:rPr lang="kk-KZ" sz="1350" b="1">
                <a:solidFill>
                  <a:srgbClr val="FFF8EB"/>
                </a:solidFill>
                <a:latin typeface="Aptos"/>
                <a:cs typeface="Aptos"/>
              </a:rPr>
              <a:t>Фото, дерек өңдеу</a:t>
            </a:r>
          </a:p>
        </p:txBody>
      </p:sp>
      <p:sp>
        <p:nvSpPr>
          <p:cNvPr id="47" name="Shape 47"/>
          <p:cNvSpPr/>
          <p:nvPr/>
        </p:nvSpPr>
        <p:spPr>
          <a:xfrm>
            <a:off x="680000" y="4090000"/>
            <a:ext cx="10500000" cy="560000"/>
          </a:xfrm>
          <a:prstGeom prst="rect">
            <a:avLst/>
          </a:prstGeom>
          <a:solidFill>
            <a:srgbClr val="15110F">
              <a:alpha val="52000"/>
            </a:srgbClr>
          </a:solidFill>
          <a:ln w="12700">
            <a:solidFill>
              <a:srgbClr val="D5A85B"/>
            </a:solidFill>
          </a:ln>
        </p:spPr>
        <p:txBody>
          <a:bodyPr/>
          <a:lstStyle/>
          <a:p/>
        </p:txBody>
      </p:sp>
      <p:sp>
        <p:nvSpPr>
          <p:cNvPr id="48" name="Text 48"/>
          <p:cNvSpPr txBox="1"/>
          <p:nvPr/>
        </p:nvSpPr>
        <p:spPr>
          <a:xfrm>
            <a:off x="770000" y="4215000"/>
            <a:ext cx="3020000" cy="420000"/>
          </a:xfrm>
          <a:prstGeom prst="rect">
            <a:avLst/>
          </a:prstGeom>
          <a:noFill/>
          <a:ln>
            <a:noFill/>
          </a:ln>
        </p:spPr>
        <p:txBody>
          <a:bodyPr wrap="square" anchor="t"/>
          <a:lstStyle/>
          <a:p>
            <a:pPr algn="l"/>
            <a:r>
              <a:rPr lang="kk-KZ" sz="1350">
                <a:solidFill>
                  <a:srgbClr val="CDBEA8"/>
                </a:solidFill>
                <a:latin typeface="Aptos"/>
                <a:cs typeface="Aptos"/>
              </a:rPr>
              <a:t>AI/чат</a:t>
            </a:r>
          </a:p>
        </p:txBody>
      </p:sp>
      <p:sp>
        <p:nvSpPr>
          <p:cNvPr id="49" name="Text 49"/>
          <p:cNvSpPr txBox="1"/>
          <p:nvPr/>
        </p:nvSpPr>
        <p:spPr>
          <a:xfrm>
            <a:off x="3970000" y="4215000"/>
            <a:ext cx="2220000" cy="420000"/>
          </a:xfrm>
          <a:prstGeom prst="rect">
            <a:avLst/>
          </a:prstGeom>
          <a:noFill/>
          <a:ln>
            <a:noFill/>
          </a:ln>
        </p:spPr>
        <p:txBody>
          <a:bodyPr wrap="square" anchor="t"/>
          <a:lstStyle/>
          <a:p>
            <a:pPr algn="l"/>
            <a:r>
              <a:rPr lang="kk-KZ" sz="1350">
                <a:solidFill>
                  <a:srgbClr val="CDBEA8"/>
                </a:solidFill>
                <a:latin typeface="Aptos"/>
                <a:cs typeface="Aptos"/>
              </a:rPr>
              <a:t>Жоқ</a:t>
            </a:r>
          </a:p>
        </p:txBody>
      </p:sp>
      <p:sp>
        <p:nvSpPr>
          <p:cNvPr id="50" name="Text 50"/>
          <p:cNvSpPr txBox="1"/>
          <p:nvPr/>
        </p:nvSpPr>
        <p:spPr>
          <a:xfrm>
            <a:off x="6370000" y="4215000"/>
            <a:ext cx="2220000" cy="420000"/>
          </a:xfrm>
          <a:prstGeom prst="rect">
            <a:avLst/>
          </a:prstGeom>
          <a:noFill/>
          <a:ln>
            <a:noFill/>
          </a:ln>
        </p:spPr>
        <p:txBody>
          <a:bodyPr wrap="square" anchor="t"/>
          <a:lstStyle/>
          <a:p>
            <a:pPr algn="l"/>
            <a:r>
              <a:rPr lang="kk-KZ" sz="1350">
                <a:solidFill>
                  <a:srgbClr val="CDBEA8"/>
                </a:solidFill>
                <a:latin typeface="Aptos"/>
                <a:cs typeface="Aptos"/>
              </a:rPr>
              <a:t>Қолдау ғана</a:t>
            </a:r>
          </a:p>
        </p:txBody>
      </p:sp>
      <p:sp>
        <p:nvSpPr>
          <p:cNvPr id="51" name="Text 51"/>
          <p:cNvSpPr txBox="1"/>
          <p:nvPr/>
        </p:nvSpPr>
        <p:spPr>
          <a:xfrm>
            <a:off x="8770000" y="4215000"/>
            <a:ext cx="2320000" cy="420000"/>
          </a:xfrm>
          <a:prstGeom prst="rect">
            <a:avLst/>
          </a:prstGeom>
          <a:noFill/>
          <a:ln>
            <a:noFill/>
          </a:ln>
        </p:spPr>
        <p:txBody>
          <a:bodyPr wrap="square" anchor="t"/>
          <a:lstStyle/>
          <a:p>
            <a:pPr algn="l"/>
            <a:r>
              <a:rPr lang="kk-KZ" sz="1350" b="1">
                <a:solidFill>
                  <a:srgbClr val="FFF8EB"/>
                </a:solidFill>
                <a:latin typeface="Aptos"/>
                <a:cs typeface="Aptos"/>
              </a:rPr>
              <a:t>AI + оператор</a:t>
            </a:r>
          </a:p>
        </p:txBody>
      </p:sp>
      <p:sp>
        <p:nvSpPr>
          <p:cNvPr id="52" name="Shape 52"/>
          <p:cNvSpPr/>
          <p:nvPr/>
        </p:nvSpPr>
        <p:spPr>
          <a:xfrm>
            <a:off x="680000" y="4650000"/>
            <a:ext cx="10500000" cy="560000"/>
          </a:xfrm>
          <a:prstGeom prst="rect">
            <a:avLst/>
          </a:prstGeom>
          <a:solidFill>
            <a:srgbClr val="241C18">
              <a:alpha val="52000"/>
            </a:srgbClr>
          </a:solidFill>
          <a:ln w="12700">
            <a:solidFill>
              <a:srgbClr val="D5A85B"/>
            </a:solidFill>
          </a:ln>
        </p:spPr>
        <p:txBody>
          <a:bodyPr/>
          <a:lstStyle/>
          <a:p/>
        </p:txBody>
      </p:sp>
      <p:sp>
        <p:nvSpPr>
          <p:cNvPr id="53" name="Text 53"/>
          <p:cNvSpPr txBox="1"/>
          <p:nvPr/>
        </p:nvSpPr>
        <p:spPr>
          <a:xfrm>
            <a:off x="770000" y="4775000"/>
            <a:ext cx="3020000" cy="420000"/>
          </a:xfrm>
          <a:prstGeom prst="rect">
            <a:avLst/>
          </a:prstGeom>
          <a:noFill/>
          <a:ln>
            <a:noFill/>
          </a:ln>
        </p:spPr>
        <p:txBody>
          <a:bodyPr wrap="square" anchor="t"/>
          <a:lstStyle/>
          <a:p>
            <a:pPr algn="l"/>
            <a:r>
              <a:rPr lang="kk-KZ" sz="1350">
                <a:solidFill>
                  <a:srgbClr val="CDBEA8"/>
                </a:solidFill>
                <a:latin typeface="Aptos"/>
                <a:cs typeface="Aptos"/>
              </a:rPr>
              <a:t>Админ басқаруы</a:t>
            </a:r>
          </a:p>
        </p:txBody>
      </p:sp>
      <p:sp>
        <p:nvSpPr>
          <p:cNvPr id="54" name="Text 54"/>
          <p:cNvSpPr txBox="1"/>
          <p:nvPr/>
        </p:nvSpPr>
        <p:spPr>
          <a:xfrm>
            <a:off x="3970000" y="4775000"/>
            <a:ext cx="2220000" cy="420000"/>
          </a:xfrm>
          <a:prstGeom prst="rect">
            <a:avLst/>
          </a:prstGeom>
          <a:noFill/>
          <a:ln>
            <a:noFill/>
          </a:ln>
        </p:spPr>
        <p:txBody>
          <a:bodyPr wrap="square" anchor="t"/>
          <a:lstStyle/>
          <a:p>
            <a:pPr algn="l"/>
            <a:r>
              <a:rPr lang="kk-KZ" sz="1350">
                <a:solidFill>
                  <a:srgbClr val="CDBEA8"/>
                </a:solidFill>
                <a:latin typeface="Aptos"/>
                <a:cs typeface="Aptos"/>
              </a:rPr>
              <a:t>Қолмен</a:t>
            </a:r>
          </a:p>
        </p:txBody>
      </p:sp>
      <p:sp>
        <p:nvSpPr>
          <p:cNvPr id="55" name="Text 55"/>
          <p:cNvSpPr txBox="1"/>
          <p:nvPr/>
        </p:nvSpPr>
        <p:spPr>
          <a:xfrm>
            <a:off x="6370000" y="4775000"/>
            <a:ext cx="2220000" cy="420000"/>
          </a:xfrm>
          <a:prstGeom prst="rect">
            <a:avLst/>
          </a:prstGeom>
          <a:noFill/>
          <a:ln>
            <a:noFill/>
          </a:ln>
        </p:spPr>
        <p:txBody>
          <a:bodyPr wrap="square" anchor="t"/>
          <a:lstStyle/>
          <a:p>
            <a:pPr algn="l"/>
            <a:r>
              <a:rPr lang="kk-KZ" sz="1350">
                <a:solidFill>
                  <a:srgbClr val="CDBEA8"/>
                </a:solidFill>
                <a:latin typeface="Aptos"/>
                <a:cs typeface="Aptos"/>
              </a:rPr>
              <a:t>Жабық жүйе</a:t>
            </a:r>
          </a:p>
        </p:txBody>
      </p:sp>
      <p:sp>
        <p:nvSpPr>
          <p:cNvPr id="56" name="Text 56"/>
          <p:cNvSpPr txBox="1"/>
          <p:nvPr/>
        </p:nvSpPr>
        <p:spPr>
          <a:xfrm>
            <a:off x="8770000" y="4775000"/>
            <a:ext cx="2320000" cy="420000"/>
          </a:xfrm>
          <a:prstGeom prst="rect">
            <a:avLst/>
          </a:prstGeom>
          <a:noFill/>
          <a:ln>
            <a:noFill/>
          </a:ln>
        </p:spPr>
        <p:txBody>
          <a:bodyPr wrap="square" anchor="t"/>
          <a:lstStyle/>
          <a:p>
            <a:pPr algn="l"/>
            <a:r>
              <a:rPr lang="kk-KZ" sz="1350" b="1">
                <a:solidFill>
                  <a:srgbClr val="FFF8EB"/>
                </a:solidFill>
                <a:latin typeface="Aptos"/>
                <a:cs typeface="Aptos"/>
              </a:rPr>
              <a:t>Django Admin</a:t>
            </a:r>
          </a:p>
        </p:txBody>
      </p:sp>
      <p:sp>
        <p:nvSpPr>
          <p:cNvPr id="57" name="Shape 57"/>
          <p:cNvSpPr/>
          <p:nvPr/>
        </p:nvSpPr>
        <p:spPr>
          <a:xfrm>
            <a:off x="680000" y="5210000"/>
            <a:ext cx="10500000" cy="560000"/>
          </a:xfrm>
          <a:prstGeom prst="rect">
            <a:avLst/>
          </a:prstGeom>
          <a:solidFill>
            <a:srgbClr val="15110F">
              <a:alpha val="52000"/>
            </a:srgbClr>
          </a:solidFill>
          <a:ln w="12700">
            <a:solidFill>
              <a:srgbClr val="D5A85B"/>
            </a:solidFill>
          </a:ln>
        </p:spPr>
        <p:txBody>
          <a:bodyPr/>
          <a:lstStyle/>
          <a:p/>
        </p:txBody>
      </p:sp>
      <p:sp>
        <p:nvSpPr>
          <p:cNvPr id="58" name="Text 58"/>
          <p:cNvSpPr txBox="1"/>
          <p:nvPr/>
        </p:nvSpPr>
        <p:spPr>
          <a:xfrm>
            <a:off x="770000" y="5335000"/>
            <a:ext cx="3020000" cy="420000"/>
          </a:xfrm>
          <a:prstGeom prst="rect">
            <a:avLst/>
          </a:prstGeom>
          <a:noFill/>
          <a:ln>
            <a:noFill/>
          </a:ln>
        </p:spPr>
        <p:txBody>
          <a:bodyPr wrap="square" anchor="t"/>
          <a:lstStyle/>
          <a:p>
            <a:pPr algn="l"/>
            <a:r>
              <a:rPr lang="kk-KZ" sz="1350">
                <a:solidFill>
                  <a:srgbClr val="CDBEA8"/>
                </a:solidFill>
                <a:latin typeface="Aptos"/>
                <a:cs typeface="Aptos"/>
              </a:rPr>
              <a:t>Тілдер</a:t>
            </a:r>
          </a:p>
        </p:txBody>
      </p:sp>
      <p:sp>
        <p:nvSpPr>
          <p:cNvPr id="59" name="Text 59"/>
          <p:cNvSpPr txBox="1"/>
          <p:nvPr/>
        </p:nvSpPr>
        <p:spPr>
          <a:xfrm>
            <a:off x="3970000" y="5335000"/>
            <a:ext cx="2220000" cy="420000"/>
          </a:xfrm>
          <a:prstGeom prst="rect">
            <a:avLst/>
          </a:prstGeom>
          <a:noFill/>
          <a:ln>
            <a:noFill/>
          </a:ln>
        </p:spPr>
        <p:txBody>
          <a:bodyPr wrap="square" anchor="t"/>
          <a:lstStyle/>
          <a:p>
            <a:pPr algn="l"/>
            <a:r>
              <a:rPr lang="kk-KZ" sz="1350">
                <a:solidFill>
                  <a:srgbClr val="CDBEA8"/>
                </a:solidFill>
                <a:latin typeface="Aptos"/>
                <a:cs typeface="Aptos"/>
              </a:rPr>
              <a:t>1 тіл</a:t>
            </a:r>
          </a:p>
        </p:txBody>
      </p:sp>
      <p:sp>
        <p:nvSpPr>
          <p:cNvPr id="60" name="Text 60"/>
          <p:cNvSpPr txBox="1"/>
          <p:nvPr/>
        </p:nvSpPr>
        <p:spPr>
          <a:xfrm>
            <a:off x="6370000" y="5335000"/>
            <a:ext cx="2220000" cy="420000"/>
          </a:xfrm>
          <a:prstGeom prst="rect">
            <a:avLst/>
          </a:prstGeom>
          <a:noFill/>
          <a:ln>
            <a:noFill/>
          </a:ln>
        </p:spPr>
        <p:txBody>
          <a:bodyPr wrap="square" anchor="t"/>
          <a:lstStyle/>
          <a:p>
            <a:pPr algn="l"/>
            <a:r>
              <a:rPr lang="kk-KZ" sz="1350">
                <a:solidFill>
                  <a:srgbClr val="CDBEA8"/>
                </a:solidFill>
                <a:latin typeface="Aptos"/>
                <a:cs typeface="Aptos"/>
              </a:rPr>
              <a:t>1-2 тіл</a:t>
            </a:r>
          </a:p>
        </p:txBody>
      </p:sp>
      <p:sp>
        <p:nvSpPr>
          <p:cNvPr id="61" name="Text 61"/>
          <p:cNvSpPr txBox="1"/>
          <p:nvPr/>
        </p:nvSpPr>
        <p:spPr>
          <a:xfrm>
            <a:off x="8770000" y="5335000"/>
            <a:ext cx="2320000" cy="420000"/>
          </a:xfrm>
          <a:prstGeom prst="rect">
            <a:avLst/>
          </a:prstGeom>
          <a:noFill/>
          <a:ln>
            <a:noFill/>
          </a:ln>
        </p:spPr>
        <p:txBody>
          <a:bodyPr wrap="square" anchor="t"/>
          <a:lstStyle/>
          <a:p>
            <a:pPr algn="l"/>
            <a:r>
              <a:rPr lang="kk-KZ" sz="1350" b="1">
                <a:solidFill>
                  <a:srgbClr val="FFF8EB"/>
                </a:solidFill>
                <a:latin typeface="Aptos"/>
                <a:cs typeface="Aptos"/>
              </a:rPr>
              <a:t>RU / EN / KZ</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Жобаның артықшылықтары мен шектеулері</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Shape 22"/>
          <p:cNvSpPr/>
          <p:nvPr/>
        </p:nvSpPr>
        <p:spPr>
          <a:xfrm>
            <a:off x="820000" y="1320000"/>
            <a:ext cx="4850000" cy="4520000"/>
          </a:xfrm>
          <a:prstGeom prst="rect">
            <a:avLst/>
          </a:prstGeom>
          <a:solidFill>
            <a:srgbClr val="241C18">
              <a:alpha val="90000"/>
            </a:srgbClr>
          </a:solidFill>
          <a:ln w="12700">
            <a:solidFill>
              <a:srgbClr val="D5A85B"/>
            </a:solidFill>
          </a:ln>
        </p:spPr>
        <p:txBody>
          <a:bodyPr/>
          <a:lstStyle/>
          <a:p/>
        </p:txBody>
      </p:sp>
      <p:sp>
        <p:nvSpPr>
          <p:cNvPr id="23" name="Text 23"/>
          <p:cNvSpPr txBox="1"/>
          <p:nvPr/>
        </p:nvSpPr>
        <p:spPr>
          <a:xfrm>
            <a:off x="1140000" y="1610000"/>
            <a:ext cx="4200000" cy="360000"/>
          </a:xfrm>
          <a:prstGeom prst="rect">
            <a:avLst/>
          </a:prstGeom>
          <a:noFill/>
          <a:ln>
            <a:noFill/>
          </a:ln>
        </p:spPr>
        <p:txBody>
          <a:bodyPr wrap="square" anchor="t"/>
          <a:lstStyle/>
          <a:p>
            <a:pPr algn="l"/>
            <a:r>
              <a:rPr lang="kk-KZ" sz="2400" b="1">
                <a:solidFill>
                  <a:srgbClr val="D5A85B"/>
                </a:solidFill>
                <a:latin typeface="Georgia"/>
                <a:cs typeface="Georgia"/>
              </a:rPr>
              <a:t>Артықшылықтары</a:t>
            </a:r>
          </a:p>
        </p:txBody>
      </p:sp>
      <p:sp>
        <p:nvSpPr>
          <p:cNvPr id="24" name="Text 24"/>
          <p:cNvSpPr txBox="1"/>
          <p:nvPr/>
        </p:nvSpPr>
        <p:spPr>
          <a:xfrm>
            <a:off x="1180000" y="2200000"/>
            <a:ext cx="4100000" cy="2920000"/>
          </a:xfrm>
          <a:prstGeom prst="rect">
            <a:avLst/>
          </a:prstGeom>
          <a:noFill/>
          <a:ln>
            <a:noFill/>
          </a:ln>
        </p:spPr>
        <p:txBody>
          <a:bodyPr wrap="square" anchor="t"/>
          <a:lstStyle/>
          <a:p>
            <a:pPr marL="342900" indent="-171450" algn="l">
              <a:buChar char="•"/>
            </a:pPr>
            <a:r>
              <a:rPr lang="kk-KZ" sz="1650">
                <a:solidFill>
                  <a:srgbClr val="FFF8EB"/>
                </a:solidFill>
                <a:latin typeface="Aptos"/>
                <a:cs typeface="Aptos"/>
              </a:rPr>
              <a:t>Барлық негізгі бизнес-процестер бір сайтта.</a:t>
            </a:r>
          </a:p>
          <a:p>
            <a:pPr marL="342900" indent="-171450" algn="l">
              <a:buChar char="•"/>
            </a:pPr>
            <a:r>
              <a:rPr lang="kk-KZ" sz="1650">
                <a:solidFill>
                  <a:srgbClr val="FFF8EB"/>
                </a:solidFill>
                <a:latin typeface="Aptos"/>
                <a:cs typeface="Aptos"/>
              </a:rPr>
              <a:t>Әкімші тапсырыс, бронь, мәзір және қолданушыларды өңдей алады.</a:t>
            </a:r>
          </a:p>
          <a:p>
            <a:pPr marL="342900" indent="-171450" algn="l">
              <a:buChar char="•"/>
            </a:pPr>
            <a:r>
              <a:rPr lang="kk-KZ" sz="1650">
                <a:solidFill>
                  <a:srgbClr val="FFF8EB"/>
                </a:solidFill>
                <a:latin typeface="Aptos"/>
                <a:cs typeface="Aptos"/>
              </a:rPr>
              <a:t>Жеке тағамға бөлек фото қоюға болады.</a:t>
            </a:r>
          </a:p>
          <a:p>
            <a:pPr marL="342900" indent="-171450" algn="l">
              <a:buChar char="•"/>
            </a:pPr>
            <a:r>
              <a:rPr lang="kk-KZ" sz="1650">
                <a:solidFill>
                  <a:srgbClr val="FFF8EB"/>
                </a:solidFill>
                <a:latin typeface="Aptos"/>
                <a:cs typeface="Aptos"/>
              </a:rPr>
              <a:t>Жеткізу кезінде промокод 5% жеңілдік береді.</a:t>
            </a:r>
          </a:p>
          <a:p>
            <a:pPr marL="342900" indent="-171450" algn="l">
              <a:buChar char="•"/>
            </a:pPr>
            <a:r>
              <a:rPr lang="kk-KZ" sz="1650">
                <a:solidFill>
                  <a:srgbClr val="FFF8EB"/>
                </a:solidFill>
                <a:latin typeface="Aptos"/>
                <a:cs typeface="Aptos"/>
              </a:rPr>
              <a:t>Қараңғы және жарық режим бар.</a:t>
            </a:r>
          </a:p>
        </p:txBody>
      </p:sp>
      <p:sp>
        <p:nvSpPr>
          <p:cNvPr id="25" name="Shape 25"/>
          <p:cNvSpPr/>
          <p:nvPr/>
        </p:nvSpPr>
        <p:spPr>
          <a:xfrm>
            <a:off x="6380000" y="1320000"/>
            <a:ext cx="4850000" cy="4520000"/>
          </a:xfrm>
          <a:prstGeom prst="rect">
            <a:avLst/>
          </a:prstGeom>
          <a:solidFill>
            <a:srgbClr val="1E2720">
              <a:alpha val="90000"/>
            </a:srgbClr>
          </a:solidFill>
          <a:ln w="12700">
            <a:solidFill>
              <a:srgbClr val="88A487"/>
            </a:solidFill>
          </a:ln>
        </p:spPr>
        <p:txBody>
          <a:bodyPr/>
          <a:lstStyle/>
          <a:p/>
        </p:txBody>
      </p:sp>
      <p:sp>
        <p:nvSpPr>
          <p:cNvPr id="26" name="Text 26"/>
          <p:cNvSpPr txBox="1"/>
          <p:nvPr/>
        </p:nvSpPr>
        <p:spPr>
          <a:xfrm>
            <a:off x="6700000" y="1610000"/>
            <a:ext cx="4200000" cy="360000"/>
          </a:xfrm>
          <a:prstGeom prst="rect">
            <a:avLst/>
          </a:prstGeom>
          <a:noFill/>
          <a:ln>
            <a:noFill/>
          </a:ln>
        </p:spPr>
        <p:txBody>
          <a:bodyPr wrap="square" anchor="t"/>
          <a:lstStyle/>
          <a:p>
            <a:pPr algn="l"/>
            <a:r>
              <a:rPr lang="kk-KZ" sz="2400" b="1">
                <a:solidFill>
                  <a:srgbClr val="88A487"/>
                </a:solidFill>
                <a:latin typeface="Georgia"/>
                <a:cs typeface="Georgia"/>
              </a:rPr>
              <a:t>Шектеулері</a:t>
            </a:r>
          </a:p>
        </p:txBody>
      </p:sp>
      <p:sp>
        <p:nvSpPr>
          <p:cNvPr id="27" name="Text 27"/>
          <p:cNvSpPr txBox="1"/>
          <p:nvPr/>
        </p:nvSpPr>
        <p:spPr>
          <a:xfrm>
            <a:off x="6740000" y="2200000"/>
            <a:ext cx="4100000" cy="2920000"/>
          </a:xfrm>
          <a:prstGeom prst="rect">
            <a:avLst/>
          </a:prstGeom>
          <a:noFill/>
          <a:ln>
            <a:noFill/>
          </a:ln>
        </p:spPr>
        <p:txBody>
          <a:bodyPr wrap="square" anchor="t"/>
          <a:lstStyle/>
          <a:p>
            <a:pPr marL="342900" indent="-171450" algn="l">
              <a:buChar char="•"/>
            </a:pPr>
            <a:r>
              <a:rPr lang="kk-KZ" sz="1650">
                <a:solidFill>
                  <a:srgbClr val="FFF8EB"/>
                </a:solidFill>
                <a:latin typeface="Aptos"/>
                <a:cs typeface="Aptos"/>
              </a:rPr>
              <a:t>Онлайн төлем нақты банк API-іне қосылмаған, қауіпсіз тексеру деректері ғана сақталады.</a:t>
            </a:r>
          </a:p>
          <a:p>
            <a:pPr marL="342900" indent="-171450" algn="l">
              <a:buChar char="•"/>
            </a:pPr>
            <a:r>
              <a:rPr lang="kk-KZ" sz="1650">
                <a:solidFill>
                  <a:srgbClr val="FFF8EB"/>
                </a:solidFill>
                <a:latin typeface="Aptos"/>
                <a:cs typeface="Aptos"/>
              </a:rPr>
              <a:t>AI жауабы сервердегі API кілтке тәуелді.</a:t>
            </a:r>
          </a:p>
          <a:p>
            <a:pPr marL="342900" indent="-171450" algn="l">
              <a:buChar char="•"/>
            </a:pPr>
            <a:r>
              <a:rPr lang="kk-KZ" sz="1650">
                <a:solidFill>
                  <a:srgbClr val="FFF8EB"/>
                </a:solidFill>
                <a:latin typeface="Aptos"/>
                <a:cs typeface="Aptos"/>
              </a:rPr>
              <a:t>Оператор чаты polling арқылы жұмыс істейді, толық real-time үшін WebSocket қажет.</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Жобаның бірегейлігі</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Shape 22"/>
          <p:cNvSpPr/>
          <p:nvPr/>
        </p:nvSpPr>
        <p:spPr>
          <a:xfrm>
            <a:off x="680000" y="1320000"/>
            <a:ext cx="6840000" cy="3380000"/>
          </a:xfrm>
          <a:prstGeom prst="rect">
            <a:avLst/>
          </a:prstGeom>
          <a:solidFill>
            <a:srgbClr val="241C18">
              <a:alpha val="90000"/>
            </a:srgbClr>
          </a:solidFill>
          <a:ln w="12700">
            <a:solidFill>
              <a:srgbClr val="D5A85B"/>
            </a:solidFill>
          </a:ln>
        </p:spPr>
        <p:txBody>
          <a:bodyPr/>
          <a:lstStyle/>
          <a:p/>
        </p:txBody>
      </p:sp>
      <p:sp>
        <p:nvSpPr>
          <p:cNvPr id="23" name="Text 23"/>
          <p:cNvSpPr txBox="1"/>
          <p:nvPr/>
        </p:nvSpPr>
        <p:spPr>
          <a:xfrm>
            <a:off x="1040000" y="1640000"/>
            <a:ext cx="6160000" cy="2700000"/>
          </a:xfrm>
          <a:prstGeom prst="rect">
            <a:avLst/>
          </a:prstGeom>
          <a:noFill/>
          <a:ln>
            <a:noFill/>
          </a:ln>
        </p:spPr>
        <p:txBody>
          <a:bodyPr wrap="square" anchor="t"/>
          <a:lstStyle/>
          <a:p>
            <a:pPr algn="l"/>
            <a:r>
              <a:rPr lang="kk-KZ" sz="1950">
                <a:solidFill>
                  <a:srgbClr val="FFF8EB"/>
                </a:solidFill>
                <a:latin typeface="Aptos"/>
                <a:cs typeface="Aptos"/>
              </a:rPr>
              <a:t>Sakura Table тек мейрамхана витринасы емес. Бұл клиент пен әкімшіге арналған толыққанды қызмет көрсету жүйесі. Клиент мәзірді қарап, себет жинайды, промокод қолданады, жеткізуге тапсырыс береді, үстел брондайды және профильін өңдейді. Әкімші Django Admin арқылы мәзір позицияларын, суреттерді, тапсырыстарды, броньдарды, төлем деректерін және оператор чаттарын басқарады.</a:t>
            </a:r>
          </a:p>
        </p:txBody>
      </p:sp>
      <p:sp>
        <p:nvSpPr>
          <p:cNvPr id="24" name="Shape 24"/>
          <p:cNvSpPr/>
          <p:nvPr/>
        </p:nvSpPr>
        <p:spPr>
          <a:xfrm>
            <a:off x="7920000" y="1440000"/>
            <a:ext cx="2700000" cy="410000"/>
          </a:xfrm>
          <a:prstGeom prst="rect">
            <a:avLst/>
          </a:prstGeom>
          <a:solidFill>
            <a:srgbClr val="D94A54">
              <a:alpha val="83000"/>
            </a:srgbClr>
          </a:solidFill>
          <a:ln>
            <a:noFill/>
          </a:ln>
        </p:spPr>
        <p:txBody>
          <a:bodyPr/>
          <a:lstStyle/>
          <a:p/>
        </p:txBody>
      </p:sp>
      <p:sp>
        <p:nvSpPr>
          <p:cNvPr id="25" name="Text 25"/>
          <p:cNvSpPr txBox="1"/>
          <p:nvPr/>
        </p:nvSpPr>
        <p:spPr>
          <a:xfrm>
            <a:off x="8130000" y="1538000"/>
            <a:ext cx="2300000" cy="240000"/>
          </a:xfrm>
          <a:prstGeom prst="rect">
            <a:avLst/>
          </a:prstGeom>
          <a:noFill/>
          <a:ln>
            <a:noFill/>
          </a:ln>
        </p:spPr>
        <p:txBody>
          <a:bodyPr wrap="square" anchor="t"/>
          <a:lstStyle/>
          <a:p>
            <a:pPr algn="l"/>
            <a:r>
              <a:rPr lang="kk-KZ" sz="1650" b="1">
                <a:solidFill>
                  <a:srgbClr val="FFFFFF"/>
                </a:solidFill>
                <a:latin typeface="Aptos"/>
                <a:cs typeface="Aptos"/>
              </a:rPr>
              <a:t>AI-чат</a:t>
            </a:r>
          </a:p>
        </p:txBody>
      </p:sp>
      <p:sp>
        <p:nvSpPr>
          <p:cNvPr id="26" name="Shape 26"/>
          <p:cNvSpPr/>
          <p:nvPr/>
        </p:nvSpPr>
        <p:spPr>
          <a:xfrm>
            <a:off x="7920000" y="2060000"/>
            <a:ext cx="2700000" cy="410000"/>
          </a:xfrm>
          <a:prstGeom prst="rect">
            <a:avLst/>
          </a:prstGeom>
          <a:solidFill>
            <a:srgbClr val="88A487">
              <a:alpha val="83000"/>
            </a:srgbClr>
          </a:solidFill>
          <a:ln>
            <a:noFill/>
          </a:ln>
        </p:spPr>
        <p:txBody>
          <a:bodyPr/>
          <a:lstStyle/>
          <a:p/>
        </p:txBody>
      </p:sp>
      <p:sp>
        <p:nvSpPr>
          <p:cNvPr id="27" name="Text 27"/>
          <p:cNvSpPr txBox="1"/>
          <p:nvPr/>
        </p:nvSpPr>
        <p:spPr>
          <a:xfrm>
            <a:off x="8130000" y="2158000"/>
            <a:ext cx="2300000" cy="240000"/>
          </a:xfrm>
          <a:prstGeom prst="rect">
            <a:avLst/>
          </a:prstGeom>
          <a:noFill/>
          <a:ln>
            <a:noFill/>
          </a:ln>
        </p:spPr>
        <p:txBody>
          <a:bodyPr wrap="square" anchor="t"/>
          <a:lstStyle/>
          <a:p>
            <a:pPr algn="l"/>
            <a:r>
              <a:rPr lang="kk-KZ" sz="1650" b="1">
                <a:solidFill>
                  <a:srgbClr val="FFFFFF"/>
                </a:solidFill>
                <a:latin typeface="Aptos"/>
                <a:cs typeface="Aptos"/>
              </a:rPr>
              <a:t>Оператор</a:t>
            </a:r>
          </a:p>
        </p:txBody>
      </p:sp>
      <p:sp>
        <p:nvSpPr>
          <p:cNvPr id="28" name="Shape 28"/>
          <p:cNvSpPr/>
          <p:nvPr/>
        </p:nvSpPr>
        <p:spPr>
          <a:xfrm>
            <a:off x="7920000" y="2680000"/>
            <a:ext cx="2700000" cy="410000"/>
          </a:xfrm>
          <a:prstGeom prst="rect">
            <a:avLst/>
          </a:prstGeom>
          <a:solidFill>
            <a:srgbClr val="D94A54">
              <a:alpha val="83000"/>
            </a:srgbClr>
          </a:solidFill>
          <a:ln>
            <a:noFill/>
          </a:ln>
        </p:spPr>
        <p:txBody>
          <a:bodyPr/>
          <a:lstStyle/>
          <a:p/>
        </p:txBody>
      </p:sp>
      <p:sp>
        <p:nvSpPr>
          <p:cNvPr id="29" name="Text 29"/>
          <p:cNvSpPr txBox="1"/>
          <p:nvPr/>
        </p:nvSpPr>
        <p:spPr>
          <a:xfrm>
            <a:off x="8130000" y="2778000"/>
            <a:ext cx="2300000" cy="240000"/>
          </a:xfrm>
          <a:prstGeom prst="rect">
            <a:avLst/>
          </a:prstGeom>
          <a:noFill/>
          <a:ln>
            <a:noFill/>
          </a:ln>
        </p:spPr>
        <p:txBody>
          <a:bodyPr wrap="square" anchor="t"/>
          <a:lstStyle/>
          <a:p>
            <a:pPr algn="l"/>
            <a:r>
              <a:rPr lang="kk-KZ" sz="1650" b="1">
                <a:solidFill>
                  <a:srgbClr val="FFFFFF"/>
                </a:solidFill>
                <a:latin typeface="Aptos"/>
                <a:cs typeface="Aptos"/>
              </a:rPr>
              <a:t>Промокод</a:t>
            </a:r>
          </a:p>
        </p:txBody>
      </p:sp>
      <p:sp>
        <p:nvSpPr>
          <p:cNvPr id="30" name="Shape 30"/>
          <p:cNvSpPr/>
          <p:nvPr/>
        </p:nvSpPr>
        <p:spPr>
          <a:xfrm>
            <a:off x="7920000" y="3300000"/>
            <a:ext cx="2700000" cy="410000"/>
          </a:xfrm>
          <a:prstGeom prst="rect">
            <a:avLst/>
          </a:prstGeom>
          <a:solidFill>
            <a:srgbClr val="88A487">
              <a:alpha val="83000"/>
            </a:srgbClr>
          </a:solidFill>
          <a:ln>
            <a:noFill/>
          </a:ln>
        </p:spPr>
        <p:txBody>
          <a:bodyPr/>
          <a:lstStyle/>
          <a:p/>
        </p:txBody>
      </p:sp>
      <p:sp>
        <p:nvSpPr>
          <p:cNvPr id="31" name="Text 31"/>
          <p:cNvSpPr txBox="1"/>
          <p:nvPr/>
        </p:nvSpPr>
        <p:spPr>
          <a:xfrm>
            <a:off x="8130000" y="3398000"/>
            <a:ext cx="2300000" cy="240000"/>
          </a:xfrm>
          <a:prstGeom prst="rect">
            <a:avLst/>
          </a:prstGeom>
          <a:noFill/>
          <a:ln>
            <a:noFill/>
          </a:ln>
        </p:spPr>
        <p:txBody>
          <a:bodyPr wrap="square" anchor="t"/>
          <a:lstStyle/>
          <a:p>
            <a:pPr algn="l"/>
            <a:r>
              <a:rPr lang="kk-KZ" sz="1650" b="1">
                <a:solidFill>
                  <a:srgbClr val="FFFFFF"/>
                </a:solidFill>
                <a:latin typeface="Aptos"/>
                <a:cs typeface="Aptos"/>
              </a:rPr>
              <a:t>PDF мәзір</a:t>
            </a:r>
          </a:p>
        </p:txBody>
      </p:sp>
      <p:sp>
        <p:nvSpPr>
          <p:cNvPr id="32" name="Shape 32"/>
          <p:cNvSpPr/>
          <p:nvPr/>
        </p:nvSpPr>
        <p:spPr>
          <a:xfrm>
            <a:off x="7920000" y="3920000"/>
            <a:ext cx="2700000" cy="410000"/>
          </a:xfrm>
          <a:prstGeom prst="rect">
            <a:avLst/>
          </a:prstGeom>
          <a:solidFill>
            <a:srgbClr val="D94A54">
              <a:alpha val="83000"/>
            </a:srgbClr>
          </a:solidFill>
          <a:ln>
            <a:noFill/>
          </a:ln>
        </p:spPr>
        <p:txBody>
          <a:bodyPr/>
          <a:lstStyle/>
          <a:p/>
        </p:txBody>
      </p:sp>
      <p:sp>
        <p:nvSpPr>
          <p:cNvPr id="33" name="Text 33"/>
          <p:cNvSpPr txBox="1"/>
          <p:nvPr/>
        </p:nvSpPr>
        <p:spPr>
          <a:xfrm>
            <a:off x="8130000" y="4018000"/>
            <a:ext cx="2300000" cy="240000"/>
          </a:xfrm>
          <a:prstGeom prst="rect">
            <a:avLst/>
          </a:prstGeom>
          <a:noFill/>
          <a:ln>
            <a:noFill/>
          </a:ln>
        </p:spPr>
        <p:txBody>
          <a:bodyPr wrap="square" anchor="t"/>
          <a:lstStyle/>
          <a:p>
            <a:pPr algn="l"/>
            <a:r>
              <a:rPr lang="kk-KZ" sz="1650" b="1">
                <a:solidFill>
                  <a:srgbClr val="FFFFFF"/>
                </a:solidFill>
                <a:latin typeface="Aptos"/>
                <a:cs typeface="Aptos"/>
              </a:rPr>
              <a:t>3 тіл</a:t>
            </a:r>
          </a:p>
        </p:txBody>
      </p:sp>
      <p:sp>
        <p:nvSpPr>
          <p:cNvPr id="34" name="Shape 34"/>
          <p:cNvSpPr/>
          <p:nvPr/>
        </p:nvSpPr>
        <p:spPr>
          <a:xfrm>
            <a:off x="7920000" y="4540000"/>
            <a:ext cx="2700000" cy="410000"/>
          </a:xfrm>
          <a:prstGeom prst="rect">
            <a:avLst/>
          </a:prstGeom>
          <a:solidFill>
            <a:srgbClr val="88A487">
              <a:alpha val="83000"/>
            </a:srgbClr>
          </a:solidFill>
          <a:ln>
            <a:noFill/>
          </a:ln>
        </p:spPr>
        <p:txBody>
          <a:bodyPr/>
          <a:lstStyle/>
          <a:p/>
        </p:txBody>
      </p:sp>
      <p:sp>
        <p:nvSpPr>
          <p:cNvPr id="35" name="Text 35"/>
          <p:cNvSpPr txBox="1"/>
          <p:nvPr/>
        </p:nvSpPr>
        <p:spPr>
          <a:xfrm>
            <a:off x="8130000" y="4638000"/>
            <a:ext cx="2300000" cy="240000"/>
          </a:xfrm>
          <a:prstGeom prst="rect">
            <a:avLst/>
          </a:prstGeom>
          <a:noFill/>
          <a:ln>
            <a:noFill/>
          </a:ln>
        </p:spPr>
        <p:txBody>
          <a:bodyPr wrap="square" anchor="t"/>
          <a:lstStyle/>
          <a:p>
            <a:pPr algn="l"/>
            <a:r>
              <a:rPr lang="kk-KZ" sz="1650" b="1">
                <a:solidFill>
                  <a:srgbClr val="FFFFFF"/>
                </a:solidFill>
                <a:latin typeface="Aptos"/>
                <a:cs typeface="Aptos"/>
              </a:rPr>
              <a:t>Django Admin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Қолданылған өңдеу құралдары</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Shape 22"/>
          <p:cNvSpPr/>
          <p:nvPr/>
        </p:nvSpPr>
        <p:spPr>
          <a:xfrm>
            <a:off x="820000" y="1320000"/>
            <a:ext cx="2650000" cy="480000"/>
          </a:xfrm>
          <a:prstGeom prst="rect">
            <a:avLst/>
          </a:prstGeom>
          <a:solidFill>
            <a:srgbClr val="D94A54">
              <a:alpha val="90000"/>
            </a:srgbClr>
          </a:solidFill>
          <a:ln>
            <a:noFill/>
          </a:ln>
        </p:spPr>
        <p:txBody>
          <a:bodyPr/>
          <a:lstStyle/>
          <a:p/>
        </p:txBody>
      </p:sp>
      <p:sp>
        <p:nvSpPr>
          <p:cNvPr id="23" name="Text 23"/>
          <p:cNvSpPr txBox="1"/>
          <p:nvPr/>
        </p:nvSpPr>
        <p:spPr>
          <a:xfrm>
            <a:off x="1040000" y="1435000"/>
            <a:ext cx="2200000" cy="260000"/>
          </a:xfrm>
          <a:prstGeom prst="rect">
            <a:avLst/>
          </a:prstGeom>
          <a:noFill/>
          <a:ln>
            <a:noFill/>
          </a:ln>
        </p:spPr>
        <p:txBody>
          <a:bodyPr wrap="square" anchor="t"/>
          <a:lstStyle/>
          <a:p>
            <a:pPr algn="l"/>
            <a:r>
              <a:rPr lang="kk-KZ" sz="1650" b="1">
                <a:solidFill>
                  <a:srgbClr val="FFFFFF"/>
                </a:solidFill>
                <a:latin typeface="Aptos"/>
                <a:cs typeface="Aptos"/>
              </a:rPr>
              <a:t>Backend</a:t>
            </a:r>
          </a:p>
        </p:txBody>
      </p:sp>
      <p:sp>
        <p:nvSpPr>
          <p:cNvPr id="24" name="Shape 24"/>
          <p:cNvSpPr/>
          <p:nvPr/>
        </p:nvSpPr>
        <p:spPr>
          <a:xfrm>
            <a:off x="3590000" y="1320000"/>
            <a:ext cx="7200000" cy="480000"/>
          </a:xfrm>
          <a:prstGeom prst="rect">
            <a:avLst/>
          </a:prstGeom>
          <a:solidFill>
            <a:srgbClr val="241C18">
              <a:alpha val="56000"/>
            </a:srgbClr>
          </a:solidFill>
          <a:ln w="12700">
            <a:solidFill>
              <a:srgbClr val="D5A85B"/>
            </a:solidFill>
          </a:ln>
        </p:spPr>
        <p:txBody>
          <a:bodyPr/>
          <a:lstStyle/>
          <a:p/>
        </p:txBody>
      </p:sp>
      <p:sp>
        <p:nvSpPr>
          <p:cNvPr id="25" name="Text 25"/>
          <p:cNvSpPr txBox="1"/>
          <p:nvPr/>
        </p:nvSpPr>
        <p:spPr>
          <a:xfrm>
            <a:off x="3840000" y="1435000"/>
            <a:ext cx="6700000" cy="260000"/>
          </a:xfrm>
          <a:prstGeom prst="rect">
            <a:avLst/>
          </a:prstGeom>
          <a:noFill/>
          <a:ln>
            <a:noFill/>
          </a:ln>
        </p:spPr>
        <p:txBody>
          <a:bodyPr wrap="square" anchor="t"/>
          <a:lstStyle/>
          <a:p>
            <a:pPr algn="l"/>
            <a:r>
              <a:rPr lang="kk-KZ" sz="1600">
                <a:solidFill>
                  <a:srgbClr val="FFF8EB"/>
                </a:solidFill>
                <a:latin typeface="Aptos"/>
                <a:cs typeface="Aptos"/>
              </a:rPr>
              <a:t>Django, Django Admin, Gunicorn</a:t>
            </a:r>
          </a:p>
        </p:txBody>
      </p:sp>
      <p:sp>
        <p:nvSpPr>
          <p:cNvPr id="26" name="Shape 26"/>
          <p:cNvSpPr/>
          <p:nvPr/>
        </p:nvSpPr>
        <p:spPr>
          <a:xfrm>
            <a:off x="820000" y="2020000"/>
            <a:ext cx="2650000" cy="480000"/>
          </a:xfrm>
          <a:prstGeom prst="rect">
            <a:avLst/>
          </a:prstGeom>
          <a:solidFill>
            <a:srgbClr val="88A487">
              <a:alpha val="90000"/>
            </a:srgbClr>
          </a:solidFill>
          <a:ln>
            <a:noFill/>
          </a:ln>
        </p:spPr>
        <p:txBody>
          <a:bodyPr/>
          <a:lstStyle/>
          <a:p/>
        </p:txBody>
      </p:sp>
      <p:sp>
        <p:nvSpPr>
          <p:cNvPr id="27" name="Text 27"/>
          <p:cNvSpPr txBox="1"/>
          <p:nvPr/>
        </p:nvSpPr>
        <p:spPr>
          <a:xfrm>
            <a:off x="1040000" y="2135000"/>
            <a:ext cx="2200000" cy="260000"/>
          </a:xfrm>
          <a:prstGeom prst="rect">
            <a:avLst/>
          </a:prstGeom>
          <a:noFill/>
          <a:ln>
            <a:noFill/>
          </a:ln>
        </p:spPr>
        <p:txBody>
          <a:bodyPr wrap="square" anchor="t"/>
          <a:lstStyle/>
          <a:p>
            <a:pPr algn="l"/>
            <a:r>
              <a:rPr lang="kk-KZ" sz="1650" b="1">
                <a:solidFill>
                  <a:srgbClr val="FFFFFF"/>
                </a:solidFill>
                <a:latin typeface="Aptos"/>
                <a:cs typeface="Aptos"/>
              </a:rPr>
              <a:t>Frontend</a:t>
            </a:r>
          </a:p>
        </p:txBody>
      </p:sp>
      <p:sp>
        <p:nvSpPr>
          <p:cNvPr id="28" name="Shape 28"/>
          <p:cNvSpPr/>
          <p:nvPr/>
        </p:nvSpPr>
        <p:spPr>
          <a:xfrm>
            <a:off x="3590000" y="2020000"/>
            <a:ext cx="7200000" cy="480000"/>
          </a:xfrm>
          <a:prstGeom prst="rect">
            <a:avLst/>
          </a:prstGeom>
          <a:solidFill>
            <a:srgbClr val="241C18">
              <a:alpha val="56000"/>
            </a:srgbClr>
          </a:solidFill>
          <a:ln w="12700">
            <a:solidFill>
              <a:srgbClr val="D5A85B"/>
            </a:solidFill>
          </a:ln>
        </p:spPr>
        <p:txBody>
          <a:bodyPr/>
          <a:lstStyle/>
          <a:p/>
        </p:txBody>
      </p:sp>
      <p:sp>
        <p:nvSpPr>
          <p:cNvPr id="29" name="Text 29"/>
          <p:cNvSpPr txBox="1"/>
          <p:nvPr/>
        </p:nvSpPr>
        <p:spPr>
          <a:xfrm>
            <a:off x="3840000" y="2135000"/>
            <a:ext cx="6700000" cy="260000"/>
          </a:xfrm>
          <a:prstGeom prst="rect">
            <a:avLst/>
          </a:prstGeom>
          <a:noFill/>
          <a:ln>
            <a:noFill/>
          </a:ln>
        </p:spPr>
        <p:txBody>
          <a:bodyPr wrap="square" anchor="t"/>
          <a:lstStyle/>
          <a:p>
            <a:pPr algn="l"/>
            <a:r>
              <a:rPr lang="kk-KZ" sz="1600">
                <a:solidFill>
                  <a:srgbClr val="FFF8EB"/>
                </a:solidFill>
                <a:latin typeface="Aptos"/>
                <a:cs typeface="Aptos"/>
              </a:rPr>
              <a:t>HTML, CSS, JavaScript</a:t>
            </a:r>
          </a:p>
        </p:txBody>
      </p:sp>
      <p:sp>
        <p:nvSpPr>
          <p:cNvPr id="30" name="Shape 30"/>
          <p:cNvSpPr/>
          <p:nvPr/>
        </p:nvSpPr>
        <p:spPr>
          <a:xfrm>
            <a:off x="820000" y="2720000"/>
            <a:ext cx="2650000" cy="480000"/>
          </a:xfrm>
          <a:prstGeom prst="rect">
            <a:avLst/>
          </a:prstGeom>
          <a:solidFill>
            <a:srgbClr val="D94A54">
              <a:alpha val="90000"/>
            </a:srgbClr>
          </a:solidFill>
          <a:ln>
            <a:noFill/>
          </a:ln>
        </p:spPr>
        <p:txBody>
          <a:bodyPr/>
          <a:lstStyle/>
          <a:p/>
        </p:txBody>
      </p:sp>
      <p:sp>
        <p:nvSpPr>
          <p:cNvPr id="31" name="Text 31"/>
          <p:cNvSpPr txBox="1"/>
          <p:nvPr/>
        </p:nvSpPr>
        <p:spPr>
          <a:xfrm>
            <a:off x="1040000" y="2835000"/>
            <a:ext cx="2200000" cy="260000"/>
          </a:xfrm>
          <a:prstGeom prst="rect">
            <a:avLst/>
          </a:prstGeom>
          <a:noFill/>
          <a:ln>
            <a:noFill/>
          </a:ln>
        </p:spPr>
        <p:txBody>
          <a:bodyPr wrap="square" anchor="t"/>
          <a:lstStyle/>
          <a:p>
            <a:pPr algn="l"/>
            <a:r>
              <a:rPr lang="kk-KZ" sz="1650" b="1">
                <a:solidFill>
                  <a:srgbClr val="FFFFFF"/>
                </a:solidFill>
                <a:latin typeface="Aptos"/>
                <a:cs typeface="Aptos"/>
              </a:rPr>
              <a:t>Database</a:t>
            </a:r>
          </a:p>
        </p:txBody>
      </p:sp>
      <p:sp>
        <p:nvSpPr>
          <p:cNvPr id="32" name="Shape 32"/>
          <p:cNvSpPr/>
          <p:nvPr/>
        </p:nvSpPr>
        <p:spPr>
          <a:xfrm>
            <a:off x="3590000" y="2720000"/>
            <a:ext cx="7200000" cy="480000"/>
          </a:xfrm>
          <a:prstGeom prst="rect">
            <a:avLst/>
          </a:prstGeom>
          <a:solidFill>
            <a:srgbClr val="241C18">
              <a:alpha val="56000"/>
            </a:srgbClr>
          </a:solidFill>
          <a:ln w="12700">
            <a:solidFill>
              <a:srgbClr val="D5A85B"/>
            </a:solidFill>
          </a:ln>
        </p:spPr>
        <p:txBody>
          <a:bodyPr/>
          <a:lstStyle/>
          <a:p/>
        </p:txBody>
      </p:sp>
      <p:sp>
        <p:nvSpPr>
          <p:cNvPr id="33" name="Text 33"/>
          <p:cNvSpPr txBox="1"/>
          <p:nvPr/>
        </p:nvSpPr>
        <p:spPr>
          <a:xfrm>
            <a:off x="3840000" y="2835000"/>
            <a:ext cx="6700000" cy="260000"/>
          </a:xfrm>
          <a:prstGeom prst="rect">
            <a:avLst/>
          </a:prstGeom>
          <a:noFill/>
          <a:ln>
            <a:noFill/>
          </a:ln>
        </p:spPr>
        <p:txBody>
          <a:bodyPr wrap="square" anchor="t"/>
          <a:lstStyle/>
          <a:p>
            <a:pPr algn="l"/>
            <a:r>
              <a:rPr lang="kk-KZ" sz="1600">
                <a:solidFill>
                  <a:srgbClr val="FFF8EB"/>
                </a:solidFill>
                <a:latin typeface="Aptos"/>
                <a:cs typeface="Aptos"/>
              </a:rPr>
              <a:t>SQLite локалды, PostgreSQL хостингте қолдануға дайын</a:t>
            </a:r>
          </a:p>
        </p:txBody>
      </p:sp>
      <p:sp>
        <p:nvSpPr>
          <p:cNvPr id="34" name="Shape 34"/>
          <p:cNvSpPr/>
          <p:nvPr/>
        </p:nvSpPr>
        <p:spPr>
          <a:xfrm>
            <a:off x="820000" y="3420000"/>
            <a:ext cx="2650000" cy="480000"/>
          </a:xfrm>
          <a:prstGeom prst="rect">
            <a:avLst/>
          </a:prstGeom>
          <a:solidFill>
            <a:srgbClr val="88A487">
              <a:alpha val="90000"/>
            </a:srgbClr>
          </a:solidFill>
          <a:ln>
            <a:noFill/>
          </a:ln>
        </p:spPr>
        <p:txBody>
          <a:bodyPr/>
          <a:lstStyle/>
          <a:p/>
        </p:txBody>
      </p:sp>
      <p:sp>
        <p:nvSpPr>
          <p:cNvPr id="35" name="Text 35"/>
          <p:cNvSpPr txBox="1"/>
          <p:nvPr/>
        </p:nvSpPr>
        <p:spPr>
          <a:xfrm>
            <a:off x="1040000" y="3535000"/>
            <a:ext cx="2200000" cy="260000"/>
          </a:xfrm>
          <a:prstGeom prst="rect">
            <a:avLst/>
          </a:prstGeom>
          <a:noFill/>
          <a:ln>
            <a:noFill/>
          </a:ln>
        </p:spPr>
        <p:txBody>
          <a:bodyPr wrap="square" anchor="t"/>
          <a:lstStyle/>
          <a:p>
            <a:pPr algn="l"/>
            <a:r>
              <a:rPr lang="kk-KZ" sz="1650" b="1">
                <a:solidFill>
                  <a:srgbClr val="FFFFFF"/>
                </a:solidFill>
                <a:latin typeface="Aptos"/>
                <a:cs typeface="Aptos"/>
              </a:rPr>
              <a:t>AI</a:t>
            </a:r>
          </a:p>
        </p:txBody>
      </p:sp>
      <p:sp>
        <p:nvSpPr>
          <p:cNvPr id="36" name="Shape 36"/>
          <p:cNvSpPr/>
          <p:nvPr/>
        </p:nvSpPr>
        <p:spPr>
          <a:xfrm>
            <a:off x="3590000" y="3420000"/>
            <a:ext cx="7200000" cy="480000"/>
          </a:xfrm>
          <a:prstGeom prst="rect">
            <a:avLst/>
          </a:prstGeom>
          <a:solidFill>
            <a:srgbClr val="241C18">
              <a:alpha val="56000"/>
            </a:srgbClr>
          </a:solidFill>
          <a:ln w="12700">
            <a:solidFill>
              <a:srgbClr val="D5A85B"/>
            </a:solidFill>
          </a:ln>
        </p:spPr>
        <p:txBody>
          <a:bodyPr/>
          <a:lstStyle/>
          <a:p/>
        </p:txBody>
      </p:sp>
      <p:sp>
        <p:nvSpPr>
          <p:cNvPr id="37" name="Text 37"/>
          <p:cNvSpPr txBox="1"/>
          <p:nvPr/>
        </p:nvSpPr>
        <p:spPr>
          <a:xfrm>
            <a:off x="3840000" y="3535000"/>
            <a:ext cx="6700000" cy="260000"/>
          </a:xfrm>
          <a:prstGeom prst="rect">
            <a:avLst/>
          </a:prstGeom>
          <a:noFill/>
          <a:ln>
            <a:noFill/>
          </a:ln>
        </p:spPr>
        <p:txBody>
          <a:bodyPr wrap="square" anchor="t"/>
          <a:lstStyle/>
          <a:p>
            <a:pPr algn="l"/>
            <a:r>
              <a:rPr lang="kk-KZ" sz="1600">
                <a:solidFill>
                  <a:srgbClr val="FFF8EB"/>
                </a:solidFill>
                <a:latin typeface="Aptos"/>
                <a:cs typeface="Aptos"/>
              </a:rPr>
              <a:t>Groq API арқылы AI-чатбот</a:t>
            </a:r>
          </a:p>
        </p:txBody>
      </p:sp>
      <p:sp>
        <p:nvSpPr>
          <p:cNvPr id="38" name="Shape 38"/>
          <p:cNvSpPr/>
          <p:nvPr/>
        </p:nvSpPr>
        <p:spPr>
          <a:xfrm>
            <a:off x="820000" y="4120000"/>
            <a:ext cx="2650000" cy="480000"/>
          </a:xfrm>
          <a:prstGeom prst="rect">
            <a:avLst/>
          </a:prstGeom>
          <a:solidFill>
            <a:srgbClr val="D94A54">
              <a:alpha val="90000"/>
            </a:srgbClr>
          </a:solidFill>
          <a:ln>
            <a:noFill/>
          </a:ln>
        </p:spPr>
        <p:txBody>
          <a:bodyPr/>
          <a:lstStyle/>
          <a:p/>
        </p:txBody>
      </p:sp>
      <p:sp>
        <p:nvSpPr>
          <p:cNvPr id="39" name="Text 39"/>
          <p:cNvSpPr txBox="1"/>
          <p:nvPr/>
        </p:nvSpPr>
        <p:spPr>
          <a:xfrm>
            <a:off x="1040000" y="4235000"/>
            <a:ext cx="2200000" cy="260000"/>
          </a:xfrm>
          <a:prstGeom prst="rect">
            <a:avLst/>
          </a:prstGeom>
          <a:noFill/>
          <a:ln>
            <a:noFill/>
          </a:ln>
        </p:spPr>
        <p:txBody>
          <a:bodyPr wrap="square" anchor="t"/>
          <a:lstStyle/>
          <a:p>
            <a:pPr algn="l"/>
            <a:r>
              <a:rPr lang="kk-KZ" sz="1650" b="1">
                <a:solidFill>
                  <a:srgbClr val="FFFFFF"/>
                </a:solidFill>
                <a:latin typeface="Aptos"/>
                <a:cs typeface="Aptos"/>
              </a:rPr>
              <a:t>Hosting</a:t>
            </a:r>
          </a:p>
        </p:txBody>
      </p:sp>
      <p:sp>
        <p:nvSpPr>
          <p:cNvPr id="40" name="Shape 40"/>
          <p:cNvSpPr/>
          <p:nvPr/>
        </p:nvSpPr>
        <p:spPr>
          <a:xfrm>
            <a:off x="3590000" y="4120000"/>
            <a:ext cx="7200000" cy="480000"/>
          </a:xfrm>
          <a:prstGeom prst="rect">
            <a:avLst/>
          </a:prstGeom>
          <a:solidFill>
            <a:srgbClr val="241C18">
              <a:alpha val="56000"/>
            </a:srgbClr>
          </a:solidFill>
          <a:ln w="12700">
            <a:solidFill>
              <a:srgbClr val="D5A85B"/>
            </a:solidFill>
          </a:ln>
        </p:spPr>
        <p:txBody>
          <a:bodyPr/>
          <a:lstStyle/>
          <a:p/>
        </p:txBody>
      </p:sp>
      <p:sp>
        <p:nvSpPr>
          <p:cNvPr id="41" name="Text 41"/>
          <p:cNvSpPr txBox="1"/>
          <p:nvPr/>
        </p:nvSpPr>
        <p:spPr>
          <a:xfrm>
            <a:off x="3840000" y="4235000"/>
            <a:ext cx="6700000" cy="260000"/>
          </a:xfrm>
          <a:prstGeom prst="rect">
            <a:avLst/>
          </a:prstGeom>
          <a:noFill/>
          <a:ln>
            <a:noFill/>
          </a:ln>
        </p:spPr>
        <p:txBody>
          <a:bodyPr wrap="square" anchor="t"/>
          <a:lstStyle/>
          <a:p>
            <a:pPr algn="l"/>
            <a:r>
              <a:rPr lang="kk-KZ" sz="1600">
                <a:solidFill>
                  <a:srgbClr val="FFF8EB"/>
                </a:solidFill>
                <a:latin typeface="Aptos"/>
                <a:cs typeface="Aptos"/>
              </a:rPr>
              <a:t>Render Web Service, Beget Passenger</a:t>
            </a:r>
          </a:p>
        </p:txBody>
      </p:sp>
      <p:sp>
        <p:nvSpPr>
          <p:cNvPr id="42" name="Shape 42"/>
          <p:cNvSpPr/>
          <p:nvPr/>
        </p:nvSpPr>
        <p:spPr>
          <a:xfrm>
            <a:off x="820000" y="4820000"/>
            <a:ext cx="2650000" cy="480000"/>
          </a:xfrm>
          <a:prstGeom prst="rect">
            <a:avLst/>
          </a:prstGeom>
          <a:solidFill>
            <a:srgbClr val="88A487">
              <a:alpha val="90000"/>
            </a:srgbClr>
          </a:solidFill>
          <a:ln>
            <a:noFill/>
          </a:ln>
        </p:spPr>
        <p:txBody>
          <a:bodyPr/>
          <a:lstStyle/>
          <a:p/>
        </p:txBody>
      </p:sp>
      <p:sp>
        <p:nvSpPr>
          <p:cNvPr id="43" name="Text 43"/>
          <p:cNvSpPr txBox="1"/>
          <p:nvPr/>
        </p:nvSpPr>
        <p:spPr>
          <a:xfrm>
            <a:off x="1040000" y="4935000"/>
            <a:ext cx="2200000" cy="260000"/>
          </a:xfrm>
          <a:prstGeom prst="rect">
            <a:avLst/>
          </a:prstGeom>
          <a:noFill/>
          <a:ln>
            <a:noFill/>
          </a:ln>
        </p:spPr>
        <p:txBody>
          <a:bodyPr wrap="square" anchor="t"/>
          <a:lstStyle/>
          <a:p>
            <a:pPr algn="l"/>
            <a:r>
              <a:rPr lang="kk-KZ" sz="1650" b="1">
                <a:solidFill>
                  <a:srgbClr val="FFFFFF"/>
                </a:solidFill>
                <a:latin typeface="Aptos"/>
                <a:cs typeface="Aptos"/>
              </a:rPr>
              <a:t>UI/UX</a:t>
            </a:r>
          </a:p>
        </p:txBody>
      </p:sp>
      <p:sp>
        <p:nvSpPr>
          <p:cNvPr id="44" name="Shape 44"/>
          <p:cNvSpPr/>
          <p:nvPr/>
        </p:nvSpPr>
        <p:spPr>
          <a:xfrm>
            <a:off x="3590000" y="4820000"/>
            <a:ext cx="7200000" cy="480000"/>
          </a:xfrm>
          <a:prstGeom prst="rect">
            <a:avLst/>
          </a:prstGeom>
          <a:solidFill>
            <a:srgbClr val="241C18">
              <a:alpha val="56000"/>
            </a:srgbClr>
          </a:solidFill>
          <a:ln w="12700">
            <a:solidFill>
              <a:srgbClr val="D5A85B"/>
            </a:solidFill>
          </a:ln>
        </p:spPr>
        <p:txBody>
          <a:bodyPr/>
          <a:lstStyle/>
          <a:p/>
        </p:txBody>
      </p:sp>
      <p:sp>
        <p:nvSpPr>
          <p:cNvPr id="45" name="Text 45"/>
          <p:cNvSpPr txBox="1"/>
          <p:nvPr/>
        </p:nvSpPr>
        <p:spPr>
          <a:xfrm>
            <a:off x="3840000" y="4935000"/>
            <a:ext cx="6700000" cy="260000"/>
          </a:xfrm>
          <a:prstGeom prst="rect">
            <a:avLst/>
          </a:prstGeom>
          <a:noFill/>
          <a:ln>
            <a:noFill/>
          </a:ln>
        </p:spPr>
        <p:txBody>
          <a:bodyPr wrap="square" anchor="t"/>
          <a:lstStyle/>
          <a:p>
            <a:pPr algn="l"/>
            <a:r>
              <a:rPr lang="kk-KZ" sz="1600">
                <a:solidFill>
                  <a:srgbClr val="FFF8EB"/>
                </a:solidFill>
                <a:latin typeface="Aptos"/>
                <a:cs typeface="Aptos"/>
              </a:rPr>
              <a:t>Responsive layout, dark/light mode, Fitts және Hick-Hyman метрикалары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Жоба архитектурасы</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Shape 22"/>
          <p:cNvSpPr/>
          <p:nvPr/>
        </p:nvSpPr>
        <p:spPr>
          <a:xfrm>
            <a:off x="730000" y="1580000"/>
            <a:ext cx="1560000" cy="540000"/>
          </a:xfrm>
          <a:prstGeom prst="rect">
            <a:avLst/>
          </a:prstGeom>
          <a:solidFill>
            <a:srgbClr val="D94A54">
              <a:alpha val="74000"/>
            </a:srgbClr>
          </a:solidFill>
          <a:ln w="12700">
            <a:solidFill>
              <a:srgbClr val="D5A85B"/>
            </a:solidFill>
          </a:ln>
        </p:spPr>
        <p:txBody>
          <a:bodyPr/>
          <a:lstStyle/>
          <a:p/>
        </p:txBody>
      </p:sp>
      <p:sp>
        <p:nvSpPr>
          <p:cNvPr id="23" name="Text 23"/>
          <p:cNvSpPr txBox="1"/>
          <p:nvPr/>
        </p:nvSpPr>
        <p:spPr>
          <a:xfrm>
            <a:off x="820000" y="1730000"/>
            <a:ext cx="1380000" cy="260000"/>
          </a:xfrm>
          <a:prstGeom prst="rect">
            <a:avLst/>
          </a:prstGeom>
          <a:noFill/>
          <a:ln>
            <a:noFill/>
          </a:ln>
        </p:spPr>
        <p:txBody>
          <a:bodyPr wrap="square" anchor="t"/>
          <a:lstStyle/>
          <a:p>
            <a:pPr algn="ctr"/>
            <a:r>
              <a:rPr lang="kk-KZ" sz="1400" b="1">
                <a:solidFill>
                  <a:srgbClr val="FFFFFF"/>
                </a:solidFill>
                <a:latin typeface="Aptos"/>
                <a:cs typeface="Aptos"/>
              </a:rPr>
              <a:t>Пайдаланушы</a:t>
            </a:r>
          </a:p>
        </p:txBody>
      </p:sp>
      <p:sp>
        <p:nvSpPr>
          <p:cNvPr id="24" name="Shape 24"/>
          <p:cNvSpPr/>
          <p:nvPr/>
        </p:nvSpPr>
        <p:spPr>
          <a:xfrm>
            <a:off x="2970000" y="1580000"/>
            <a:ext cx="1560000" cy="540000"/>
          </a:xfrm>
          <a:prstGeom prst="rect">
            <a:avLst/>
          </a:prstGeom>
          <a:solidFill>
            <a:srgbClr val="88A487">
              <a:alpha val="74000"/>
            </a:srgbClr>
          </a:solidFill>
          <a:ln w="12700">
            <a:solidFill>
              <a:srgbClr val="D5A85B"/>
            </a:solidFill>
          </a:ln>
        </p:spPr>
        <p:txBody>
          <a:bodyPr/>
          <a:lstStyle/>
          <a:p/>
        </p:txBody>
      </p:sp>
      <p:sp>
        <p:nvSpPr>
          <p:cNvPr id="25" name="Text 25"/>
          <p:cNvSpPr txBox="1"/>
          <p:nvPr/>
        </p:nvSpPr>
        <p:spPr>
          <a:xfrm>
            <a:off x="3060000" y="1730000"/>
            <a:ext cx="1380000" cy="260000"/>
          </a:xfrm>
          <a:prstGeom prst="rect">
            <a:avLst/>
          </a:prstGeom>
          <a:noFill/>
          <a:ln>
            <a:noFill/>
          </a:ln>
        </p:spPr>
        <p:txBody>
          <a:bodyPr wrap="square" anchor="t"/>
          <a:lstStyle/>
          <a:p>
            <a:pPr algn="ctr"/>
            <a:r>
              <a:rPr lang="kk-KZ" sz="1400" b="1">
                <a:solidFill>
                  <a:srgbClr val="FFFFFF"/>
                </a:solidFill>
                <a:latin typeface="Aptos"/>
                <a:cs typeface="Aptos"/>
              </a:rPr>
              <a:t>Frontend</a:t>
            </a:r>
          </a:p>
        </p:txBody>
      </p:sp>
      <p:sp>
        <p:nvSpPr>
          <p:cNvPr id="26" name="Shape 26"/>
          <p:cNvSpPr/>
          <p:nvPr/>
        </p:nvSpPr>
        <p:spPr>
          <a:xfrm>
            <a:off x="5270000" y="1580000"/>
            <a:ext cx="1560000" cy="540000"/>
          </a:xfrm>
          <a:prstGeom prst="rect">
            <a:avLst/>
          </a:prstGeom>
          <a:solidFill>
            <a:srgbClr val="241C18">
              <a:alpha val="74000"/>
            </a:srgbClr>
          </a:solidFill>
          <a:ln w="12700">
            <a:solidFill>
              <a:srgbClr val="D5A85B"/>
            </a:solidFill>
          </a:ln>
        </p:spPr>
        <p:txBody>
          <a:bodyPr/>
          <a:lstStyle/>
          <a:p/>
        </p:txBody>
      </p:sp>
      <p:sp>
        <p:nvSpPr>
          <p:cNvPr id="27" name="Text 27"/>
          <p:cNvSpPr txBox="1"/>
          <p:nvPr/>
        </p:nvSpPr>
        <p:spPr>
          <a:xfrm>
            <a:off x="5360000" y="1730000"/>
            <a:ext cx="1380000" cy="260000"/>
          </a:xfrm>
          <a:prstGeom prst="rect">
            <a:avLst/>
          </a:prstGeom>
          <a:noFill/>
          <a:ln>
            <a:noFill/>
          </a:ln>
        </p:spPr>
        <p:txBody>
          <a:bodyPr wrap="square" anchor="t"/>
          <a:lstStyle/>
          <a:p>
            <a:pPr algn="ctr"/>
            <a:r>
              <a:rPr lang="kk-KZ" sz="1400" b="1">
                <a:solidFill>
                  <a:srgbClr val="FFFFFF"/>
                </a:solidFill>
                <a:latin typeface="Aptos"/>
                <a:cs typeface="Aptos"/>
              </a:rPr>
              <a:t>Django Views</a:t>
            </a:r>
          </a:p>
        </p:txBody>
      </p:sp>
      <p:sp>
        <p:nvSpPr>
          <p:cNvPr id="28" name="Shape 28"/>
          <p:cNvSpPr/>
          <p:nvPr/>
        </p:nvSpPr>
        <p:spPr>
          <a:xfrm>
            <a:off x="7600000" y="1580000"/>
            <a:ext cx="1560000" cy="540000"/>
          </a:xfrm>
          <a:prstGeom prst="rect">
            <a:avLst/>
          </a:prstGeom>
          <a:solidFill>
            <a:srgbClr val="D94A54">
              <a:alpha val="74000"/>
            </a:srgbClr>
          </a:solidFill>
          <a:ln w="12700">
            <a:solidFill>
              <a:srgbClr val="D5A85B"/>
            </a:solidFill>
          </a:ln>
        </p:spPr>
        <p:txBody>
          <a:bodyPr/>
          <a:lstStyle/>
          <a:p/>
        </p:txBody>
      </p:sp>
      <p:sp>
        <p:nvSpPr>
          <p:cNvPr id="29" name="Text 29"/>
          <p:cNvSpPr txBox="1"/>
          <p:nvPr/>
        </p:nvSpPr>
        <p:spPr>
          <a:xfrm>
            <a:off x="7690000" y="1730000"/>
            <a:ext cx="1380000" cy="260000"/>
          </a:xfrm>
          <a:prstGeom prst="rect">
            <a:avLst/>
          </a:prstGeom>
          <a:noFill/>
          <a:ln>
            <a:noFill/>
          </a:ln>
        </p:spPr>
        <p:txBody>
          <a:bodyPr wrap="square" anchor="t"/>
          <a:lstStyle/>
          <a:p>
            <a:pPr algn="ctr"/>
            <a:r>
              <a:rPr lang="kk-KZ" sz="1400" b="1">
                <a:solidFill>
                  <a:srgbClr val="FFFFFF"/>
                </a:solidFill>
                <a:latin typeface="Aptos"/>
                <a:cs typeface="Aptos"/>
              </a:rPr>
              <a:t>Models</a:t>
            </a:r>
          </a:p>
        </p:txBody>
      </p:sp>
      <p:sp>
        <p:nvSpPr>
          <p:cNvPr id="30" name="Shape 30"/>
          <p:cNvSpPr/>
          <p:nvPr/>
        </p:nvSpPr>
        <p:spPr>
          <a:xfrm>
            <a:off x="9700000" y="1580000"/>
            <a:ext cx="1560000" cy="540000"/>
          </a:xfrm>
          <a:prstGeom prst="rect">
            <a:avLst/>
          </a:prstGeom>
          <a:solidFill>
            <a:srgbClr val="88A487">
              <a:alpha val="74000"/>
            </a:srgbClr>
          </a:solidFill>
          <a:ln w="12700">
            <a:solidFill>
              <a:srgbClr val="D5A85B"/>
            </a:solidFill>
          </a:ln>
        </p:spPr>
        <p:txBody>
          <a:bodyPr/>
          <a:lstStyle/>
          <a:p/>
        </p:txBody>
      </p:sp>
      <p:sp>
        <p:nvSpPr>
          <p:cNvPr id="31" name="Text 31"/>
          <p:cNvSpPr txBox="1"/>
          <p:nvPr/>
        </p:nvSpPr>
        <p:spPr>
          <a:xfrm>
            <a:off x="9790000" y="1730000"/>
            <a:ext cx="1380000" cy="260000"/>
          </a:xfrm>
          <a:prstGeom prst="rect">
            <a:avLst/>
          </a:prstGeom>
          <a:noFill/>
          <a:ln>
            <a:noFill/>
          </a:ln>
        </p:spPr>
        <p:txBody>
          <a:bodyPr wrap="square" anchor="t"/>
          <a:lstStyle/>
          <a:p>
            <a:pPr algn="ctr"/>
            <a:r>
              <a:rPr lang="kk-KZ" sz="1400" b="1">
                <a:solidFill>
                  <a:srgbClr val="FFFFFF"/>
                </a:solidFill>
                <a:latin typeface="Aptos"/>
                <a:cs typeface="Aptos"/>
              </a:rPr>
              <a:t>Database</a:t>
            </a:r>
          </a:p>
        </p:txBody>
      </p:sp>
      <p:sp>
        <p:nvSpPr>
          <p:cNvPr id="32" name="Shape 32"/>
          <p:cNvSpPr/>
          <p:nvPr/>
        </p:nvSpPr>
        <p:spPr>
          <a:xfrm>
            <a:off x="5270000" y="3320000"/>
            <a:ext cx="1560000" cy="540000"/>
          </a:xfrm>
          <a:prstGeom prst="rect">
            <a:avLst/>
          </a:prstGeom>
          <a:solidFill>
            <a:srgbClr val="241C18">
              <a:alpha val="74000"/>
            </a:srgbClr>
          </a:solidFill>
          <a:ln w="12700">
            <a:solidFill>
              <a:srgbClr val="D5A85B"/>
            </a:solidFill>
          </a:ln>
        </p:spPr>
        <p:txBody>
          <a:bodyPr/>
          <a:lstStyle/>
          <a:p/>
        </p:txBody>
      </p:sp>
      <p:sp>
        <p:nvSpPr>
          <p:cNvPr id="33" name="Text 33"/>
          <p:cNvSpPr txBox="1"/>
          <p:nvPr/>
        </p:nvSpPr>
        <p:spPr>
          <a:xfrm>
            <a:off x="5360000" y="3470000"/>
            <a:ext cx="1380000" cy="260000"/>
          </a:xfrm>
          <a:prstGeom prst="rect">
            <a:avLst/>
          </a:prstGeom>
          <a:noFill/>
          <a:ln>
            <a:noFill/>
          </a:ln>
        </p:spPr>
        <p:txBody>
          <a:bodyPr wrap="square" anchor="t"/>
          <a:lstStyle/>
          <a:p>
            <a:pPr algn="ctr"/>
            <a:r>
              <a:rPr lang="kk-KZ" sz="1400" b="1">
                <a:solidFill>
                  <a:srgbClr val="FFFFFF"/>
                </a:solidFill>
                <a:latin typeface="Aptos"/>
                <a:cs typeface="Aptos"/>
              </a:rPr>
              <a:t>Groq AI</a:t>
            </a:r>
          </a:p>
        </p:txBody>
      </p:sp>
      <p:sp>
        <p:nvSpPr>
          <p:cNvPr id="34" name="Shape 34"/>
          <p:cNvSpPr/>
          <p:nvPr/>
        </p:nvSpPr>
        <p:spPr>
          <a:xfrm>
            <a:off x="2970000" y="3320000"/>
            <a:ext cx="1560000" cy="540000"/>
          </a:xfrm>
          <a:prstGeom prst="rect">
            <a:avLst/>
          </a:prstGeom>
          <a:solidFill>
            <a:srgbClr val="D94A54">
              <a:alpha val="74000"/>
            </a:srgbClr>
          </a:solidFill>
          <a:ln w="12700">
            <a:solidFill>
              <a:srgbClr val="D5A85B"/>
            </a:solidFill>
          </a:ln>
        </p:spPr>
        <p:txBody>
          <a:bodyPr/>
          <a:lstStyle/>
          <a:p/>
        </p:txBody>
      </p:sp>
      <p:sp>
        <p:nvSpPr>
          <p:cNvPr id="35" name="Text 35"/>
          <p:cNvSpPr txBox="1"/>
          <p:nvPr/>
        </p:nvSpPr>
        <p:spPr>
          <a:xfrm>
            <a:off x="3060000" y="3470000"/>
            <a:ext cx="1380000" cy="260000"/>
          </a:xfrm>
          <a:prstGeom prst="rect">
            <a:avLst/>
          </a:prstGeom>
          <a:noFill/>
          <a:ln>
            <a:noFill/>
          </a:ln>
        </p:spPr>
        <p:txBody>
          <a:bodyPr wrap="square" anchor="t"/>
          <a:lstStyle/>
          <a:p>
            <a:pPr algn="ctr"/>
            <a:r>
              <a:rPr lang="kk-KZ" sz="1400" b="1">
                <a:solidFill>
                  <a:srgbClr val="FFFFFF"/>
                </a:solidFill>
                <a:latin typeface="Aptos"/>
                <a:cs typeface="Aptos"/>
              </a:rPr>
              <a:t>Admin</a:t>
            </a:r>
          </a:p>
        </p:txBody>
      </p:sp>
      <p:sp>
        <p:nvSpPr>
          <p:cNvPr id="36" name="Shape 36"/>
          <p:cNvSpPr/>
          <p:nvPr/>
        </p:nvSpPr>
        <p:spPr>
          <a:xfrm>
            <a:off x="7600000" y="3320000"/>
            <a:ext cx="1560000" cy="540000"/>
          </a:xfrm>
          <a:prstGeom prst="rect">
            <a:avLst/>
          </a:prstGeom>
          <a:solidFill>
            <a:srgbClr val="88A487">
              <a:alpha val="74000"/>
            </a:srgbClr>
          </a:solidFill>
          <a:ln w="12700">
            <a:solidFill>
              <a:srgbClr val="D5A85B"/>
            </a:solidFill>
          </a:ln>
        </p:spPr>
        <p:txBody>
          <a:bodyPr/>
          <a:lstStyle/>
          <a:p/>
        </p:txBody>
      </p:sp>
      <p:sp>
        <p:nvSpPr>
          <p:cNvPr id="37" name="Text 37"/>
          <p:cNvSpPr txBox="1"/>
          <p:nvPr/>
        </p:nvSpPr>
        <p:spPr>
          <a:xfrm>
            <a:off x="7690000" y="3470000"/>
            <a:ext cx="1380000" cy="260000"/>
          </a:xfrm>
          <a:prstGeom prst="rect">
            <a:avLst/>
          </a:prstGeom>
          <a:noFill/>
          <a:ln>
            <a:noFill/>
          </a:ln>
        </p:spPr>
        <p:txBody>
          <a:bodyPr wrap="square" anchor="t"/>
          <a:lstStyle/>
          <a:p>
            <a:pPr algn="ctr"/>
            <a:r>
              <a:rPr lang="kk-KZ" sz="1400" b="1">
                <a:solidFill>
                  <a:srgbClr val="FFFFFF"/>
                </a:solidFill>
                <a:latin typeface="Aptos"/>
                <a:cs typeface="Aptos"/>
              </a:rPr>
              <a:t>Django Admin</a:t>
            </a:r>
          </a:p>
        </p:txBody>
      </p:sp>
      <p:cxnSp>
        <p:nvCxnSpPr>
          <p:cNvPr id="38" name="Connector"/>
          <p:cNvCxnSpPr/>
          <p:nvPr/>
        </p:nvCxnSpPr>
        <p:spPr>
          <a:xfrm>
            <a:off x="2290000" y="1850000"/>
            <a:ext cx="680000" cy="1"/>
          </a:xfrm>
          <a:prstGeom prst="line">
            <a:avLst/>
          </a:prstGeom>
          <a:ln w="25400">
            <a:solidFill>
              <a:srgbClr val="D5A85B"/>
            </a:solidFill>
          </a:ln>
        </p:spPr>
        <p:style/>
        <p:txBody>
          <a:bodyPr/>
          <a:lstStyle/>
          <a:p/>
        </p:txBody>
      </p:cxnSp>
      <p:cxnSp>
        <p:nvCxnSpPr>
          <p:cNvPr id="39" name="Connector"/>
          <p:cNvCxnSpPr/>
          <p:nvPr/>
        </p:nvCxnSpPr>
        <p:spPr>
          <a:xfrm>
            <a:off x="4530000" y="1850000"/>
            <a:ext cx="740000" cy="1"/>
          </a:xfrm>
          <a:prstGeom prst="line">
            <a:avLst/>
          </a:prstGeom>
          <a:ln w="25400">
            <a:solidFill>
              <a:srgbClr val="D5A85B"/>
            </a:solidFill>
          </a:ln>
        </p:spPr>
        <p:style/>
        <p:txBody>
          <a:bodyPr/>
          <a:lstStyle/>
          <a:p/>
        </p:txBody>
      </p:cxnSp>
      <p:cxnSp>
        <p:nvCxnSpPr>
          <p:cNvPr id="40" name="Connector"/>
          <p:cNvCxnSpPr/>
          <p:nvPr/>
        </p:nvCxnSpPr>
        <p:spPr>
          <a:xfrm>
            <a:off x="6830000" y="1850000"/>
            <a:ext cx="770000" cy="1"/>
          </a:xfrm>
          <a:prstGeom prst="line">
            <a:avLst/>
          </a:prstGeom>
          <a:ln w="25400">
            <a:solidFill>
              <a:srgbClr val="D5A85B"/>
            </a:solidFill>
          </a:ln>
        </p:spPr>
        <p:style/>
        <p:txBody>
          <a:bodyPr/>
          <a:lstStyle/>
          <a:p/>
        </p:txBody>
      </p:cxnSp>
      <p:cxnSp>
        <p:nvCxnSpPr>
          <p:cNvPr id="41" name="Connector"/>
          <p:cNvCxnSpPr/>
          <p:nvPr/>
        </p:nvCxnSpPr>
        <p:spPr>
          <a:xfrm>
            <a:off x="9160000" y="1850000"/>
            <a:ext cx="540000" cy="1"/>
          </a:xfrm>
          <a:prstGeom prst="line">
            <a:avLst/>
          </a:prstGeom>
          <a:ln w="25400">
            <a:solidFill>
              <a:srgbClr val="D5A85B"/>
            </a:solidFill>
          </a:ln>
        </p:spPr>
        <p:style/>
        <p:txBody>
          <a:bodyPr/>
          <a:lstStyle/>
          <a:p/>
        </p:txBody>
      </p:cxnSp>
      <p:cxnSp>
        <p:nvCxnSpPr>
          <p:cNvPr id="42" name="Connector"/>
          <p:cNvCxnSpPr/>
          <p:nvPr/>
        </p:nvCxnSpPr>
        <p:spPr>
          <a:xfrm>
            <a:off x="5270000" y="1850000"/>
            <a:ext cx="1560000" cy="1740000"/>
          </a:xfrm>
          <a:prstGeom prst="line">
            <a:avLst/>
          </a:prstGeom>
          <a:ln w="25400">
            <a:solidFill>
              <a:srgbClr val="D5A85B"/>
            </a:solidFill>
          </a:ln>
        </p:spPr>
        <p:style/>
        <p:txBody>
          <a:bodyPr/>
          <a:lstStyle/>
          <a:p/>
        </p:txBody>
      </p:cxnSp>
      <p:cxnSp>
        <p:nvCxnSpPr>
          <p:cNvPr id="43" name="Connector"/>
          <p:cNvCxnSpPr/>
          <p:nvPr/>
        </p:nvCxnSpPr>
        <p:spPr>
          <a:xfrm>
            <a:off x="4530000" y="3590000"/>
            <a:ext cx="3070000" cy="1"/>
          </a:xfrm>
          <a:prstGeom prst="line">
            <a:avLst/>
          </a:prstGeom>
          <a:ln w="25400">
            <a:solidFill>
              <a:srgbClr val="D5A85B"/>
            </a:solidFill>
          </a:ln>
        </p:spPr>
        <p:style/>
        <p:txBody>
          <a:bodyPr/>
          <a:lstStyle/>
          <a:p/>
        </p:txBody>
      </p:cxnSp>
      <p:cxnSp>
        <p:nvCxnSpPr>
          <p:cNvPr id="44" name="Connector"/>
          <p:cNvCxnSpPr/>
          <p:nvPr/>
        </p:nvCxnSpPr>
        <p:spPr>
          <a:xfrm>
            <a:off x="9160000" y="1850000"/>
            <a:ext cx="540000" cy="1740000"/>
          </a:xfrm>
          <a:prstGeom prst="line">
            <a:avLst/>
          </a:prstGeom>
          <a:ln w="25400">
            <a:solidFill>
              <a:srgbClr val="D5A85B"/>
            </a:solidFill>
          </a:ln>
        </p:spPr>
        <p:style/>
        <p:txBody>
          <a:bodyPr/>
          <a:lstStyle/>
          <a:p/>
        </p:txBody>
      </p:cxnSp>
      <p:sp>
        <p:nvSpPr>
          <p:cNvPr id="45" name="Text 45"/>
          <p:cNvSpPr txBox="1"/>
          <p:nvPr/>
        </p:nvSpPr>
        <p:spPr>
          <a:xfrm>
            <a:off x="960000" y="5240000"/>
            <a:ext cx="10000000" cy="520000"/>
          </a:xfrm>
          <a:prstGeom prst="rect">
            <a:avLst/>
          </a:prstGeom>
          <a:noFill/>
          <a:ln>
            <a:noFill/>
          </a:ln>
        </p:spPr>
        <p:txBody>
          <a:bodyPr wrap="square" anchor="t"/>
          <a:lstStyle/>
          <a:p>
            <a:pPr algn="ctr"/>
            <a:r>
              <a:rPr lang="kk-KZ" sz="1650">
                <a:solidFill>
                  <a:srgbClr val="CDBEA8"/>
                </a:solidFill>
                <a:latin typeface="Aptos"/>
                <a:cs typeface="Aptos"/>
              </a:rPr>
              <a:t>Негізгі деректер: қолданушылар, профиль, мәзір, бронь, жеткізу тапсырысы, чат диалогтары.</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Жобаны тарату және хостингке дайындау</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Shape 22"/>
          <p:cNvSpPr/>
          <p:nvPr/>
        </p:nvSpPr>
        <p:spPr>
          <a:xfrm>
            <a:off x="8120000" y="1360000"/>
            <a:ext cx="2900000" cy="2700000"/>
          </a:xfrm>
          <a:prstGeom prst="rect">
            <a:avLst/>
          </a:prstGeom>
          <a:solidFill>
            <a:srgbClr val="241C18">
              <a:alpha val="88000"/>
            </a:srgbClr>
          </a:solidFill>
          <a:ln w="12700">
            <a:solidFill>
              <a:srgbClr val="D5A85B"/>
            </a:solidFill>
          </a:ln>
        </p:spPr>
        <p:txBody>
          <a:bodyPr/>
          <a:lstStyle/>
          <a:p/>
        </p:txBody>
      </p:sp>
      <p:sp>
        <p:nvSpPr>
          <p:cNvPr id="23" name="Text 23"/>
          <p:cNvSpPr txBox="1"/>
          <p:nvPr/>
        </p:nvSpPr>
        <p:spPr>
          <a:xfrm>
            <a:off x="8440000" y="1710000"/>
            <a:ext cx="2260000" cy="420000"/>
          </a:xfrm>
          <a:prstGeom prst="rect">
            <a:avLst/>
          </a:prstGeom>
          <a:noFill/>
          <a:ln>
            <a:noFill/>
          </a:ln>
        </p:spPr>
        <p:txBody>
          <a:bodyPr wrap="square" anchor="t"/>
          <a:lstStyle/>
          <a:p>
            <a:pPr algn="l"/>
            <a:r>
              <a:rPr lang="kk-KZ" sz="2300" b="1">
                <a:solidFill>
                  <a:srgbClr val="D5A85B"/>
                </a:solidFill>
                <a:latin typeface="Georgia"/>
                <a:cs typeface="Georgia"/>
              </a:rPr>
              <a:t>Deploy мақсаты</a:t>
            </a:r>
          </a:p>
        </p:txBody>
      </p:sp>
      <p:sp>
        <p:nvSpPr>
          <p:cNvPr id="24" name="Text 24"/>
          <p:cNvSpPr txBox="1"/>
          <p:nvPr/>
        </p:nvSpPr>
        <p:spPr>
          <a:xfrm>
            <a:off x="8440000" y="2320000"/>
            <a:ext cx="2260000" cy="1180000"/>
          </a:xfrm>
          <a:prstGeom prst="rect">
            <a:avLst/>
          </a:prstGeom>
          <a:noFill/>
          <a:ln>
            <a:noFill/>
          </a:ln>
        </p:spPr>
        <p:txBody>
          <a:bodyPr wrap="square" anchor="t"/>
          <a:lstStyle/>
          <a:p>
            <a:pPr algn="l"/>
            <a:r>
              <a:rPr lang="kk-KZ" sz="1650">
                <a:solidFill>
                  <a:srgbClr val="FFF8EB"/>
                </a:solidFill>
                <a:latin typeface="Aptos"/>
                <a:cs typeface="Aptos"/>
              </a:rPr>
              <a:t>Жоба локалды ғана емес, нақты хостингте де жұмыс істеуі керек.</a:t>
            </a:r>
          </a:p>
        </p:txBody>
      </p:sp>
      <p:sp>
        <p:nvSpPr>
          <p:cNvPr id="25" name="Text 25"/>
          <p:cNvSpPr txBox="1"/>
          <p:nvPr/>
        </p:nvSpPr>
        <p:spPr>
          <a:xfrm>
            <a:off x="900000" y="1300000"/>
            <a:ext cx="6600000" cy="4320000"/>
          </a:xfrm>
          <a:prstGeom prst="rect">
            <a:avLst/>
          </a:prstGeom>
          <a:noFill/>
          <a:ln>
            <a:noFill/>
          </a:ln>
        </p:spPr>
        <p:txBody>
          <a:bodyPr wrap="square" anchor="t"/>
          <a:lstStyle/>
          <a:p>
            <a:pPr marL="342900" indent="-171450" algn="l">
              <a:buChar char="•"/>
            </a:pPr>
            <a:r>
              <a:rPr lang="kk-KZ" sz="1850">
                <a:solidFill>
                  <a:srgbClr val="FFF8EB"/>
                </a:solidFill>
                <a:latin typeface="Aptos"/>
                <a:cs typeface="Aptos"/>
              </a:rPr>
              <a:t>Render үшін Procfile және gunicorn арқылы WSGI іске қосылады.</a:t>
            </a:r>
          </a:p>
          <a:p>
            <a:pPr marL="342900" indent="-171450" algn="l">
              <a:buChar char="•"/>
            </a:pPr>
            <a:r>
              <a:rPr lang="kk-KZ" sz="1850">
                <a:solidFill>
                  <a:srgbClr val="FFF8EB"/>
                </a:solidFill>
                <a:latin typeface="Aptos"/>
                <a:cs typeface="Aptos"/>
              </a:rPr>
              <a:t>Static файлдар WhiteNoise арқылы беріледі, сондықтан CSS және JS хостингте жұмыс істейді.</a:t>
            </a:r>
          </a:p>
          <a:p>
            <a:pPr marL="342900" indent="-171450" algn="l">
              <a:buChar char="•"/>
            </a:pPr>
            <a:r>
              <a:rPr lang="kk-KZ" sz="1850">
                <a:solidFill>
                  <a:srgbClr val="FFF8EB"/>
                </a:solidFill>
                <a:latin typeface="Aptos"/>
                <a:cs typeface="Aptos"/>
              </a:rPr>
              <a:t>Environment Variables ішінде SECRET_KEY, DEBUG, GROQ_API_KEY және DATABASE_URL сақталады.</a:t>
            </a:r>
          </a:p>
          <a:p>
            <a:pPr marL="342900" indent="-171450" algn="l">
              <a:buChar char="•"/>
            </a:pPr>
            <a:r>
              <a:rPr lang="kk-KZ" sz="1850">
                <a:solidFill>
                  <a:srgbClr val="FFF8EB"/>
                </a:solidFill>
                <a:latin typeface="Aptos"/>
                <a:cs typeface="Aptos"/>
              </a:rPr>
              <a:t>Beget үшін passenger_wsgi.py дайындалған.</a:t>
            </a:r>
          </a:p>
          <a:p>
            <a:pPr marL="342900" indent="-171450" algn="l">
              <a:buChar char="•"/>
            </a:pPr>
            <a:r>
              <a:rPr lang="kk-KZ" sz="1850">
                <a:solidFill>
                  <a:srgbClr val="FFF8EB"/>
                </a:solidFill>
                <a:latin typeface="Aptos"/>
                <a:cs typeface="Aptos"/>
              </a:rPr>
              <a:t>Миграциялар арқылы база құрылымы жаңартылады: қолданушылар, жеткізу, бронь және промокод өрістері.</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Жобаны жақсарту мүмкіндіктері</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Shape 22"/>
          <p:cNvSpPr/>
          <p:nvPr/>
        </p:nvSpPr>
        <p:spPr>
          <a:xfrm>
            <a:off x="8680000" y="1200000"/>
            <a:ext cx="2060000" cy="2060000"/>
          </a:xfrm>
          <a:prstGeom prst="rect">
            <a:avLst/>
          </a:prstGeom>
          <a:solidFill>
            <a:srgbClr val="D94A54">
              <a:alpha val="82000"/>
            </a:srgbClr>
          </a:solidFill>
          <a:ln>
            <a:noFill/>
          </a:ln>
        </p:spPr>
        <p:txBody>
          <a:bodyPr/>
          <a:lstStyle/>
          <a:p/>
        </p:txBody>
      </p:sp>
      <p:sp>
        <p:nvSpPr>
          <p:cNvPr id="23" name="Text 23"/>
          <p:cNvSpPr txBox="1"/>
          <p:nvPr/>
        </p:nvSpPr>
        <p:spPr>
          <a:xfrm>
            <a:off x="8960000" y="1880000"/>
            <a:ext cx="1500000" cy="430000"/>
          </a:xfrm>
          <a:prstGeom prst="rect">
            <a:avLst/>
          </a:prstGeom>
          <a:noFill/>
          <a:ln>
            <a:noFill/>
          </a:ln>
        </p:spPr>
        <p:txBody>
          <a:bodyPr wrap="square" anchor="t"/>
          <a:lstStyle/>
          <a:p>
            <a:pPr algn="ctr"/>
            <a:r>
              <a:rPr lang="kk-KZ" sz="2400" b="1">
                <a:solidFill>
                  <a:srgbClr val="FFFFFF"/>
                </a:solidFill>
                <a:latin typeface="Georgia"/>
                <a:cs typeface="Georgia"/>
              </a:rPr>
              <a:t>Келесі даму</a:t>
            </a:r>
          </a:p>
        </p:txBody>
      </p:sp>
      <p:sp>
        <p:nvSpPr>
          <p:cNvPr id="24" name="Text 24"/>
          <p:cNvSpPr txBox="1"/>
          <p:nvPr/>
        </p:nvSpPr>
        <p:spPr>
          <a:xfrm>
            <a:off x="900000" y="1300000"/>
            <a:ext cx="6600000" cy="4320000"/>
          </a:xfrm>
          <a:prstGeom prst="rect">
            <a:avLst/>
          </a:prstGeom>
          <a:noFill/>
          <a:ln>
            <a:noFill/>
          </a:ln>
        </p:spPr>
        <p:txBody>
          <a:bodyPr wrap="square" anchor="t"/>
          <a:lstStyle/>
          <a:p>
            <a:pPr marL="342900" indent="-171450" algn="l">
              <a:buChar char="•"/>
            </a:pPr>
            <a:r>
              <a:rPr lang="kk-KZ" sz="1850">
                <a:solidFill>
                  <a:srgbClr val="FFF8EB"/>
                </a:solidFill>
                <a:latin typeface="Aptos"/>
                <a:cs typeface="Aptos"/>
              </a:rPr>
              <a:t>Оператор чатын WebSocket арқылы real-time режимге көшіру.</a:t>
            </a:r>
          </a:p>
          <a:p>
            <a:pPr marL="342900" indent="-171450" algn="l">
              <a:buChar char="•"/>
            </a:pPr>
            <a:r>
              <a:rPr lang="kk-KZ" sz="1850">
                <a:solidFill>
                  <a:srgbClr val="FFF8EB"/>
                </a:solidFill>
                <a:latin typeface="Aptos"/>
                <a:cs typeface="Aptos"/>
              </a:rPr>
              <a:t>Kaspi немесе басқа төлем жүйесінің нақты API интеграциясын қосу.</a:t>
            </a:r>
          </a:p>
          <a:p>
            <a:pPr marL="342900" indent="-171450" algn="l">
              <a:buChar char="•"/>
            </a:pPr>
            <a:r>
              <a:rPr lang="kk-KZ" sz="1850">
                <a:solidFill>
                  <a:srgbClr val="FFF8EB"/>
                </a:solidFill>
                <a:latin typeface="Aptos"/>
                <a:cs typeface="Aptos"/>
              </a:rPr>
              <a:t>Әр клиентке жеке тапсырыс тарихын және сүйікті тағамдарын көрсету.</a:t>
            </a:r>
          </a:p>
          <a:p>
            <a:pPr marL="342900" indent="-171450" algn="l">
              <a:buChar char="•"/>
            </a:pPr>
            <a:r>
              <a:rPr lang="kk-KZ" sz="1850">
                <a:solidFill>
                  <a:srgbClr val="FFF8EB"/>
                </a:solidFill>
                <a:latin typeface="Aptos"/>
                <a:cs typeface="Aptos"/>
              </a:rPr>
              <a:t>Админге статистика панелін қосу: сатылым, бронь, танымал тағамдар.</a:t>
            </a:r>
          </a:p>
          <a:p>
            <a:pPr marL="342900" indent="-171450" algn="l">
              <a:buChar char="•"/>
            </a:pPr>
            <a:r>
              <a:rPr lang="kk-KZ" sz="1850">
                <a:solidFill>
                  <a:srgbClr val="FFF8EB"/>
                </a:solidFill>
                <a:latin typeface="Aptos"/>
                <a:cs typeface="Aptos"/>
              </a:rPr>
              <a:t>Мобильді қосымша немесе PWA нұсқасын шығару.</a:t>
            </a:r>
          </a:p>
          <a:p>
            <a:pPr marL="342900" indent="-171450" algn="l">
              <a:buChar char="•"/>
            </a:pPr>
            <a:r>
              <a:rPr lang="kk-KZ" sz="1850">
                <a:solidFill>
                  <a:srgbClr val="FFF8EB"/>
                </a:solidFill>
                <a:latin typeface="Aptos"/>
                <a:cs typeface="Aptos"/>
              </a:rPr>
              <a:t>AI-чатқа мәзір деректерін тереңірек талдайтын ұсыныс жүйесін қосу.</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Жоба демонстрациясы: клиент бөлігі</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Text 22"/>
          <p:cNvSpPr txBox="1"/>
          <p:nvPr/>
        </p:nvSpPr>
        <p:spPr>
          <a:xfrm>
            <a:off x="560000" y="1000000"/>
            <a:ext cx="6500000" cy="350000"/>
          </a:xfrm>
          <a:prstGeom prst="rect">
            <a:avLst/>
          </a:prstGeom>
          <a:noFill/>
          <a:ln>
            <a:noFill/>
          </a:ln>
        </p:spPr>
        <p:txBody>
          <a:bodyPr wrap="square" anchor="t"/>
          <a:lstStyle/>
          <a:p>
            <a:pPr algn="l"/>
            <a:r>
              <a:rPr lang="kk-KZ" sz="1800">
                <a:solidFill>
                  <a:srgbClr val="D5A85B"/>
                </a:solidFill>
                <a:latin typeface="Aptos"/>
                <a:cs typeface="Aptos"/>
              </a:rPr>
              <a:t>Каталог, себет, жеткізу, промокод және тіл ауыстыру</a:t>
            </a:r>
          </a:p>
        </p:txBody>
      </p:sp>
      <p:pic>
        <p:nvPicPr>
          <p:cNvPr id="23" name="Picture 23"/>
          <p:cNvPicPr/>
          <p:nvPr/>
        </p:nvPicPr>
        <p:blipFill>
          <a:blip r:embed="rId2"/>
          <a:stretch>
            <a:fillRect/>
          </a:stretch>
        </p:blipFill>
        <p:spPr>
          <a:xfrm>
            <a:off x="710000" y="1540000"/>
            <a:ext cx="7140000" cy="4010000"/>
          </a:xfrm>
          <a:prstGeom prst="rect">
            <a:avLst/>
          </a:prstGeom>
        </p:spPr>
      </p:pic>
      <p:sp>
        <p:nvSpPr>
          <p:cNvPr id="24" name="Shape 24"/>
          <p:cNvSpPr/>
          <p:nvPr/>
        </p:nvSpPr>
        <p:spPr>
          <a:xfrm>
            <a:off x="710000" y="1540000"/>
            <a:ext cx="7140000" cy="4010000"/>
          </a:xfrm>
          <a:prstGeom prst="rect">
            <a:avLst/>
          </a:prstGeom>
          <a:solidFill>
            <a:srgbClr val="15110F">
              <a:alpha val="12000"/>
            </a:srgbClr>
          </a:solidFill>
          <a:ln w="12700">
            <a:solidFill>
              <a:srgbClr val="D5A85B"/>
            </a:solidFill>
          </a:ln>
        </p:spPr>
        <p:txBody>
          <a:bodyPr/>
          <a:lstStyle/>
          <a:p/>
        </p:txBody>
      </p:sp>
      <p:pic>
        <p:nvPicPr>
          <p:cNvPr id="25" name="Picture 25"/>
          <p:cNvPicPr/>
          <p:nvPr/>
        </p:nvPicPr>
        <p:blipFill>
          <a:blip r:embed="rId3"/>
          <a:stretch>
            <a:fillRect/>
          </a:stretch>
        </p:blipFill>
        <p:spPr>
          <a:xfrm>
            <a:off x="8360000" y="1350000"/>
            <a:ext cx="1800000" cy="4150000"/>
          </a:xfrm>
          <a:prstGeom prst="rect">
            <a:avLst/>
          </a:prstGeom>
        </p:spPr>
      </p:pic>
      <p:sp>
        <p:nvSpPr>
          <p:cNvPr id="26" name="Shape 26"/>
          <p:cNvSpPr/>
          <p:nvPr/>
        </p:nvSpPr>
        <p:spPr>
          <a:xfrm>
            <a:off x="8360000" y="1350000"/>
            <a:ext cx="1800000" cy="4150000"/>
          </a:xfrm>
          <a:prstGeom prst="rect">
            <a:avLst/>
          </a:prstGeom>
          <a:solidFill>
            <a:srgbClr val="15110F">
              <a:alpha val="12000"/>
            </a:srgbClr>
          </a:solidFill>
          <a:ln w="12700">
            <a:solidFill>
              <a:srgbClr val="D94A54"/>
            </a:solidFill>
          </a:ln>
        </p:spPr>
        <p:txBody>
          <a:bodyPr/>
          <a:lstStyle/>
          <a:p/>
        </p:txBody>
      </p:sp>
      <p:sp>
        <p:nvSpPr>
          <p:cNvPr id="27" name="Text 27"/>
          <p:cNvSpPr txBox="1"/>
          <p:nvPr/>
        </p:nvSpPr>
        <p:spPr>
          <a:xfrm>
            <a:off x="820000" y="5800000"/>
            <a:ext cx="10000000" cy="360000"/>
          </a:xfrm>
          <a:prstGeom prst="rect">
            <a:avLst/>
          </a:prstGeom>
          <a:noFill/>
          <a:ln>
            <a:noFill/>
          </a:ln>
        </p:spPr>
        <p:txBody>
          <a:bodyPr wrap="square" anchor="t"/>
          <a:lstStyle/>
          <a:p>
            <a:pPr algn="ctr"/>
            <a:r>
              <a:rPr lang="kk-KZ" sz="1450">
                <a:solidFill>
                  <a:srgbClr val="CDBEA8"/>
                </a:solidFill>
                <a:latin typeface="Aptos"/>
                <a:cs typeface="Aptos"/>
              </a:rPr>
              <a:t>Бұл слайдқа экран жазбасын қоюға болады. Қазіргі нұсқада сайттың негізгі кадрлары енгізілді.</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Жоба демонстрациясы: әкімші бөлігі</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Text 22"/>
          <p:cNvSpPr txBox="1"/>
          <p:nvPr/>
        </p:nvSpPr>
        <p:spPr>
          <a:xfrm>
            <a:off x="560000" y="1000000"/>
            <a:ext cx="7800000" cy="350000"/>
          </a:xfrm>
          <a:prstGeom prst="rect">
            <a:avLst/>
          </a:prstGeom>
          <a:noFill/>
          <a:ln>
            <a:noFill/>
          </a:ln>
        </p:spPr>
        <p:txBody>
          <a:bodyPr wrap="square" anchor="t"/>
          <a:lstStyle/>
          <a:p>
            <a:pPr algn="l"/>
            <a:r>
              <a:rPr lang="kk-KZ" sz="1800">
                <a:solidFill>
                  <a:srgbClr val="D5A85B"/>
                </a:solidFill>
                <a:latin typeface="Aptos"/>
                <a:cs typeface="Aptos"/>
              </a:rPr>
              <a:t>Django Admin арқылы мәзір, тапсырыс, бронь және қолданушы деректерін басқару</a:t>
            </a:r>
          </a:p>
        </p:txBody>
      </p:sp>
      <p:pic>
        <p:nvPicPr>
          <p:cNvPr id="23" name="Picture 23"/>
          <p:cNvPicPr/>
          <p:nvPr/>
        </p:nvPicPr>
        <p:blipFill>
          <a:blip r:embed="rId2"/>
          <a:stretch>
            <a:fillRect/>
          </a:stretch>
        </p:blipFill>
        <p:spPr>
          <a:xfrm>
            <a:off x="840000" y="1500000"/>
            <a:ext cx="10180000" cy="3900000"/>
          </a:xfrm>
          <a:prstGeom prst="rect">
            <a:avLst/>
          </a:prstGeom>
        </p:spPr>
      </p:pic>
      <p:sp>
        <p:nvSpPr>
          <p:cNvPr id="24" name="Shape 24"/>
          <p:cNvSpPr/>
          <p:nvPr/>
        </p:nvSpPr>
        <p:spPr>
          <a:xfrm>
            <a:off x="840000" y="1500000"/>
            <a:ext cx="10180000" cy="3900000"/>
          </a:xfrm>
          <a:prstGeom prst="rect">
            <a:avLst/>
          </a:prstGeom>
          <a:solidFill>
            <a:srgbClr val="15110F">
              <a:alpha val="12000"/>
            </a:srgbClr>
          </a:solidFill>
          <a:ln w="12700">
            <a:solidFill>
              <a:srgbClr val="D5A85B"/>
            </a:solidFill>
          </a:ln>
        </p:spPr>
        <p:txBody>
          <a:bodyPr/>
          <a:lstStyle/>
          <a:p/>
        </p:txBody>
      </p:sp>
      <p:sp>
        <p:nvSpPr>
          <p:cNvPr id="25" name="Text 25"/>
          <p:cNvSpPr txBox="1"/>
          <p:nvPr/>
        </p:nvSpPr>
        <p:spPr>
          <a:xfrm>
            <a:off x="1000000" y="5740000"/>
            <a:ext cx="9800000" cy="360000"/>
          </a:xfrm>
          <a:prstGeom prst="rect">
            <a:avLst/>
          </a:prstGeom>
          <a:noFill/>
          <a:ln>
            <a:noFill/>
          </a:ln>
        </p:spPr>
        <p:txBody>
          <a:bodyPr wrap="square" anchor="t"/>
          <a:lstStyle/>
          <a:p>
            <a:pPr algn="ctr"/>
            <a:r>
              <a:rPr lang="kk-KZ" sz="1500">
                <a:solidFill>
                  <a:srgbClr val="CDBEA8"/>
                </a:solidFill>
                <a:latin typeface="Aptos"/>
                <a:cs typeface="Aptos"/>
              </a:rPr>
              <a:t>Админ панельде жеткізу тапсырысының толық ақпараты, төлем түрі, промокод және жеңілдік көрсетіледі.</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5110F"/>
        </a:solidFill>
        <a:effectLst/>
      </p:bgPr>
    </p:bg>
    <p:spTree>
      <p:nvGrpSpPr>
        <p:cNvPr id="1" name=""/>
        <p:cNvGrpSpPr/>
        <p:nvPr/>
      </p:nvGrpSpPr>
      <p:grpSpPr>
        <a:xfrm>
          <a:off x="0" y="0"/>
          <a:ext cx="12192000" cy="6858000"/>
          <a:chOff x="0" y="0"/>
          <a:chExt cx="12192000" cy="6858000"/>
        </a:xfrm>
      </p:grpSpPr>
      <p:sp>
        <p:nvSpPr>
          <p:cNvPr id="2" name="Shape 2"/>
          <p:cNvSpPr/>
          <p:nvPr/>
        </p:nvSpPr>
        <p:spPr>
          <a:xfrm>
            <a:off x="0" y="0"/>
            <a:ext cx="12192000" cy="6858000"/>
          </a:xfrm>
          <a:prstGeom prst="rect">
            <a:avLst/>
          </a:prstGeom>
          <a:solidFill>
            <a:srgbClr val="15110F"/>
          </a:solidFill>
          <a:ln>
            <a:noFill/>
          </a:ln>
        </p:spPr>
        <p:txBody>
          <a:bodyPr/>
          <a:lstStyle/>
          <a:p/>
        </p:txBody>
      </p:sp>
      <p:sp>
        <p:nvSpPr>
          <p:cNvPr id="3" name="Shape 3"/>
          <p:cNvSpPr/>
          <p:nvPr/>
        </p:nvSpPr>
        <p:spPr>
          <a:xfrm>
            <a:off x="0" y="0"/>
            <a:ext cx="1600200" cy="6858000"/>
          </a:xfrm>
          <a:prstGeom prst="rect">
            <a:avLst/>
          </a:prstGeom>
          <a:solidFill>
            <a:srgbClr val="241C18"/>
          </a:solidFill>
          <a:ln>
            <a:noFill/>
          </a:ln>
        </p:spPr>
        <p:txBody>
          <a:bodyPr/>
          <a:lstStyle/>
          <a:p/>
        </p:txBody>
      </p:sp>
      <p:sp>
        <p:nvSpPr>
          <p:cNvPr id="4" name="Shape 4"/>
          <p:cNvSpPr/>
          <p:nvPr/>
        </p:nvSpPr>
        <p:spPr>
          <a:xfrm>
            <a:off x="11303000" y="0"/>
            <a:ext cx="889000" cy="6858000"/>
          </a:xfrm>
          <a:prstGeom prst="rect">
            <a:avLst/>
          </a:prstGeom>
          <a:solidFill>
            <a:srgbClr val="D94A54">
              <a:alpha val="28000"/>
            </a:srgbClr>
          </a:solidFill>
          <a:ln>
            <a:noFill/>
          </a:ln>
        </p:spPr>
        <p:txBody>
          <a:bodyPr/>
          <a:lstStyle/>
          <a:p/>
        </p:txBody>
      </p:sp>
      <p:sp>
        <p:nvSpPr>
          <p:cNvPr id="20" name="Text 20"/>
          <p:cNvSpPr txBox="1"/>
          <p:nvPr/>
        </p:nvSpPr>
        <p:spPr>
          <a:xfrm>
            <a:off x="548640" y="358140"/>
            <a:ext cx="10210800" cy="457200"/>
          </a:xfrm>
          <a:prstGeom prst="rect">
            <a:avLst/>
          </a:prstGeom>
          <a:noFill/>
          <a:ln>
            <a:noFill/>
          </a:ln>
        </p:spPr>
        <p:txBody>
          <a:bodyPr wrap="square" anchor="t"/>
          <a:lstStyle/>
          <a:p>
            <a:pPr algn="l"/>
            <a:r>
              <a:rPr lang="kk-KZ" sz="3000" b="1">
                <a:solidFill>
                  <a:srgbClr val="FFF8EB"/>
                </a:solidFill>
                <a:latin typeface="Georgia"/>
                <a:cs typeface="Georgia"/>
              </a:rPr>
              <a:t>Қорытынды</a:t>
            </a:r>
          </a:p>
        </p:txBody>
      </p:sp>
      <p:sp>
        <p:nvSpPr>
          <p:cNvPr id="21" name="Shape 21"/>
          <p:cNvSpPr/>
          <p:nvPr/>
        </p:nvSpPr>
        <p:spPr>
          <a:xfrm>
            <a:off x="548640" y="914400"/>
            <a:ext cx="1676400" cy="50800"/>
          </a:xfrm>
          <a:prstGeom prst="rect">
            <a:avLst/>
          </a:prstGeom>
          <a:solidFill>
            <a:srgbClr val="D94A54"/>
          </a:solidFill>
          <a:ln>
            <a:noFill/>
          </a:ln>
        </p:spPr>
        <p:txBody>
          <a:bodyPr/>
          <a:lstStyle/>
          <a:p/>
        </p:txBody>
      </p:sp>
      <p:sp>
        <p:nvSpPr>
          <p:cNvPr id="22" name="Text 22"/>
          <p:cNvSpPr txBox="1"/>
          <p:nvPr/>
        </p:nvSpPr>
        <p:spPr>
          <a:xfrm>
            <a:off x="900000" y="1300000"/>
            <a:ext cx="10000000" cy="4320000"/>
          </a:xfrm>
          <a:prstGeom prst="rect">
            <a:avLst/>
          </a:prstGeom>
          <a:noFill/>
          <a:ln>
            <a:noFill/>
          </a:ln>
        </p:spPr>
        <p:txBody>
          <a:bodyPr wrap="square" anchor="t"/>
          <a:lstStyle/>
          <a:p>
            <a:pPr marL="342900" indent="-171450" algn="l">
              <a:buChar char="•"/>
            </a:pPr>
            <a:r>
              <a:rPr lang="kk-KZ" sz="1850">
                <a:solidFill>
                  <a:srgbClr val="FFF8EB"/>
                </a:solidFill>
                <a:latin typeface="Aptos"/>
                <a:cs typeface="Aptos"/>
              </a:rPr>
              <a:t>Sakura Table жобасында суши мейрамханасына қажет негізгі функциялар толық біріктірілді.</a:t>
            </a:r>
          </a:p>
          <a:p>
            <a:pPr marL="342900" indent="-171450" algn="l">
              <a:buChar char="•"/>
            </a:pPr>
            <a:r>
              <a:rPr lang="kk-KZ" sz="1850">
                <a:solidFill>
                  <a:srgbClr val="FFF8EB"/>
                </a:solidFill>
                <a:latin typeface="Aptos"/>
                <a:cs typeface="Aptos"/>
              </a:rPr>
              <a:t>Клиент үшін: каталог, себет, жеткізу, бронь, профиль, чатбот, викторина және көптілді интерфейс.</a:t>
            </a:r>
          </a:p>
          <a:p>
            <a:pPr marL="342900" indent="-171450" algn="l">
              <a:buChar char="•"/>
            </a:pPr>
            <a:r>
              <a:rPr lang="kk-KZ" sz="1850">
                <a:solidFill>
                  <a:srgbClr val="FFF8EB"/>
                </a:solidFill>
                <a:latin typeface="Aptos"/>
                <a:cs typeface="Aptos"/>
              </a:rPr>
              <a:t>Әкімші үшін: Django Admin арқылы мәзірді, суреттерді, тапсырыстарды, броньдарды және чаттарды басқару.</a:t>
            </a:r>
          </a:p>
          <a:p>
            <a:pPr marL="342900" indent="-171450" algn="l">
              <a:buChar char="•"/>
            </a:pPr>
            <a:r>
              <a:rPr lang="kk-KZ" sz="1850">
                <a:solidFill>
                  <a:srgbClr val="FFF8EB"/>
                </a:solidFill>
                <a:latin typeface="Aptos"/>
                <a:cs typeface="Aptos"/>
              </a:rPr>
              <a:t>Жоба хостингке дайын құрылымда жасалып, болашақта төлем API, WebSocket және аналитикамен кеңейтіле алады.</a:t>
            </a:r>
          </a:p>
        </p:txBody>
      </p:sp>
      <p:sp>
        <p:nvSpPr>
          <p:cNvPr id="23" name="Text 23"/>
          <p:cNvSpPr txBox="1"/>
          <p:nvPr/>
        </p:nvSpPr>
        <p:spPr>
          <a:xfrm>
            <a:off x="820000" y="5740000"/>
            <a:ext cx="10000000" cy="420000"/>
          </a:xfrm>
          <a:prstGeom prst="rect">
            <a:avLst/>
          </a:prstGeom>
          <a:noFill/>
          <a:ln>
            <a:noFill/>
          </a:ln>
        </p:spPr>
        <p:txBody>
          <a:bodyPr wrap="square" anchor="t"/>
          <a:lstStyle/>
          <a:p>
            <a:pPr algn="ctr"/>
            <a:r>
              <a:rPr lang="kk-KZ" sz="1750">
                <a:solidFill>
                  <a:srgbClr val="D5A85B"/>
                </a:solidFill>
                <a:latin typeface="Aptos"/>
                <a:cs typeface="Aptos"/>
              </a:rPr>
              <a:t>Sakura Table — функционалды, ыңғайлы және заманауи мейрамхана веб-платформасы.</a:t>
            </a:r>
          </a:p>
        </p:txBody>
      </p:sp>
    </p:spTree>
  </p:cSld>
  <p:clrMapOvr>
    <a:masterClrMapping/>
  </p:clrMapOvr>
</p:sld>
</file>

<file path=ppt/theme/theme1.xml><?xml version="1.0" encoding="utf-8"?>
<a:theme xmlns:a="http://schemas.openxmlformats.org/drawingml/2006/main" name="Sakura">
  <a:themeElements>
    <a:clrScheme name="Sakura">
      <a:dk1>
        <a:srgbClr val="15110F"/>
      </a:dk1>
      <a:lt1>
        <a:srgbClr val="FFF8EB"/>
      </a:lt1>
      <a:dk2>
        <a:srgbClr val="181512"/>
      </a:dk2>
      <a:lt2>
        <a:srgbClr val="CDBEA8"/>
      </a:lt2>
      <a:accent1>
        <a:srgbClr val="D94A54"/>
      </a:accent1>
      <a:accent2>
        <a:srgbClr val="D5A85B"/>
      </a:accent2>
      <a:accent3>
        <a:srgbClr val="88A487"/>
      </a:accent3>
      <a:accent4>
        <a:srgbClr val="7D171F"/>
      </a:accent4>
      <a:accent5>
        <a:srgbClr val="30251F"/>
      </a:accent5>
      <a:accent6>
        <a:srgbClr val="F7F1E6"/>
      </a:accent6>
      <a:hlink>
        <a:srgbClr val="D5A85B"/>
      </a:hlink>
      <a:folHlink>
        <a:srgbClr val="D94A54"/>
      </a:folHlink>
    </a:clrScheme>
    <a:fontScheme name="Sakura">
      <a:majorFont>
        <a:latin typeface="Georgia"/>
        <a:ea typeface=""/>
        <a:cs typeface="Georgia"/>
      </a:majorFont>
      <a:minorFont>
        <a:latin typeface="Aptos"/>
        <a:ea typeface=""/>
        <a:cs typeface="Aptos"/>
      </a:minorFont>
    </a:fontScheme>
    <a:fmtScheme name="Sakura">
      <a:fillStyleLst>
        <a:solidFill>
          <a:schemeClr val="phClr"/>
        </a:solidFill>
      </a:fillStyleLst>
      <a:lnStyleLst>
        <a:ln w="9525">
          <a:solidFill>
            <a:schemeClr val="phClr"/>
          </a:solidFill>
        </a:ln>
      </a:lnStyleLst>
      <a:effectStyleLst>
        <a:effectStyle>
          <a:effectLst/>
        </a:effectStyle>
      </a:effectStyleLst>
      <a:bgFillStyleLst>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Codex</Application>
  <PresentationFormat>Widescreen</PresentationFormat>
  <Slides>13</Slid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Sakura Table жоба презентациясы</dc:title>
  <dc:creator>Codex</dc:creator>
  <cp:lastModifiedBy>Codex</cp:lastModifiedBy>
  <dcterms:created xsi:type="dcterms:W3CDTF">2026-05-05T00:00:00Z</dcterms:created>
  <dcterms:modified xsi:type="dcterms:W3CDTF">2026-05-05T00:00:00Z</dcterms:modified>
</cp:coreProperties>
</file>